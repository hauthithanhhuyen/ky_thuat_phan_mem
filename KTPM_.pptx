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72865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728655" cy="1828800"/>
          </a:xfrm>
          <a:prstGeom prst="rect">
            <a:avLst/>
          </a:prstGeom>
          <a:noFill/>
        </p:spPr>
        <p:txBody>
          <a:bodyPr wrap="square">
            <a:spAutoFit/>
          </a:bodyPr>
          <a:lstStyle/>
          <a:p>
            <a:pPr>
              <a:spcAft>
                <a:spcPts val="1000"/>
              </a:spcAft>
              <a:defRPr sz="3800" b="1">
                <a:solidFill>
                  <a:srgbClr val="FFFFFF"/>
                </a:solidFill>
                <a:latin typeface="Georgia"/>
              </a:defRPr>
            </a:pPr>
            <a:r>
              <a:t>NỀN TẢNG AI/ML CẦN BIẾT CHO KIỂM THỬ PHẦN MỀM HIỆN ĐẠI</a:t>
            </a:r>
          </a:p>
          <a:p>
            <a:pPr>
              <a:defRPr sz="2000">
                <a:solidFill>
                  <a:srgbClr val="0D9488"/>
                </a:solidFill>
                <a:latin typeface="Georgia"/>
              </a:defRPr>
            </a:pPr>
            <a:r>
              <a:t>Ứng dụng AI/ML trong kiểm thử và thực nghiệm phân loại mức độ nghiêm trọng của lỗi</a:t>
            </a:r>
          </a:p>
        </p:txBody>
      </p:sp>
      <p:sp>
        <p:nvSpPr>
          <p:cNvPr id="5" name="TextBox 4"/>
          <p:cNvSpPr txBox="1"/>
          <p:nvPr/>
        </p:nvSpPr>
        <p:spPr>
          <a:xfrm>
            <a:off x="731520" y="3931920"/>
            <a:ext cx="10728655" cy="2011680"/>
          </a:xfrm>
          <a:prstGeom prst="rect">
            <a:avLst/>
          </a:prstGeom>
          <a:noFill/>
        </p:spPr>
        <p:txBody>
          <a:bodyPr wrap="square">
            <a:spAutoFit/>
          </a:bodyPr>
          <a:lstStyle/>
          <a:p>
            <a:pPr>
              <a:spcAft>
                <a:spcPts val="600"/>
              </a:spcAft>
            </a:pPr>
            <a:r>
              <a:rPr sz="1400" b="1">
                <a:solidFill>
                  <a:srgbClr val="0D9488"/>
                </a:solidFill>
                <a:latin typeface="Segoe UI"/>
              </a:rPr>
              <a:t>Giáo viên hướng dẫn:</a:t>
            </a:r>
            <a:r>
              <a:rPr sz="1400">
                <a:solidFill>
                  <a:srgbClr val="FFFFFF"/>
                </a:solidFill>
                <a:latin typeface="Segoe UI"/>
              </a:rPr>
              <a:t> TS. NGUYỄN TUẤN LINH</a:t>
            </a:r>
          </a:p>
          <a:p>
            <a:pPr>
              <a:spcAft>
                <a:spcPts val="600"/>
              </a:spcAft>
            </a:pPr>
            <a:r>
              <a:rPr sz="1400" b="1">
                <a:solidFill>
                  <a:srgbClr val="0D9488"/>
                </a:solidFill>
                <a:latin typeface="Segoe UI"/>
              </a:rPr>
              <a:t>Sinh viên thực hiện:</a:t>
            </a:r>
            <a:r>
              <a:rPr sz="1400">
                <a:solidFill>
                  <a:srgbClr val="FFFFFF"/>
                </a:solidFill>
                <a:latin typeface="Segoe UI"/>
              </a:rPr>
              <a:t> HẦU THỊ THANH HUYỀN</a:t>
            </a:r>
          </a:p>
          <a:p>
            <a:pPr>
              <a:spcAft>
                <a:spcPts val="600"/>
              </a:spcAft>
            </a:pPr>
            <a:r>
              <a:rPr sz="1400" b="1">
                <a:solidFill>
                  <a:srgbClr val="0D9488"/>
                </a:solidFill>
                <a:latin typeface="Segoe UI"/>
              </a:rPr>
              <a:t>Mã số sinh viên:</a:t>
            </a:r>
            <a:r>
              <a:rPr sz="1400">
                <a:solidFill>
                  <a:srgbClr val="FFFFFF"/>
                </a:solidFill>
                <a:latin typeface="Segoe UI"/>
              </a:rPr>
              <a:t> K225480106027</a:t>
            </a:r>
          </a:p>
          <a:p>
            <a:pPr>
              <a:spcAft>
                <a:spcPts val="600"/>
              </a:spcAft>
            </a:pPr>
            <a:r>
              <a:rPr sz="1400" b="1">
                <a:solidFill>
                  <a:srgbClr val="0D9488"/>
                </a:solidFill>
                <a:latin typeface="Segoe UI"/>
              </a:rPr>
              <a:t>Lớp:</a:t>
            </a:r>
            <a:r>
              <a:rPr sz="1400">
                <a:solidFill>
                  <a:srgbClr val="FFFFFF"/>
                </a:solidFill>
                <a:latin typeface="Segoe UI"/>
              </a:rPr>
              <a:t> K58.KTP (Khoa Điện Tử)</a:t>
            </a:r>
          </a:p>
          <a:p>
            <a:pPr>
              <a:spcAft>
                <a:spcPts val="600"/>
              </a:spcAft>
            </a:pPr>
            <a:r>
              <a:rPr sz="1400" b="1">
                <a:solidFill>
                  <a:srgbClr val="0D9488"/>
                </a:solidFill>
                <a:latin typeface="Segoe UI"/>
              </a:rPr>
              <a:t>Trường:</a:t>
            </a:r>
            <a:r>
              <a:rPr sz="1400">
                <a:solidFill>
                  <a:srgbClr val="FFFFFF"/>
                </a:solidFill>
                <a:latin typeface="Segoe UI"/>
              </a:rPr>
              <a:t> Đại học Kỹ thuật Công nghiệp Thái Nguyên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2</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GIỚI THIỆU</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Lời nói đầu &amp; Bối cảnh đề tài</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10728655" cy="4389120"/>
          </a:xfrm>
          <a:prstGeom prst="rect">
            <a:avLst/>
          </a:prstGeom>
          <a:noFill/>
        </p:spPr>
        <p:txBody>
          <a:bodyPr wrap="square" lIns="0" tIns="0">
            <a:spAutoFit/>
          </a:bodyPr>
          <a:lstStyle/>
          <a:p>
            <a:pPr>
              <a:spcAft>
                <a:spcPts val="400"/>
              </a:spcAft>
            </a:pPr>
            <a:r>
              <a:rPr sz="2000" b="1">
                <a:solidFill>
                  <a:srgbClr val="0F172A"/>
                </a:solidFill>
                <a:latin typeface="Segoe UI"/>
              </a:rPr>
              <a:t>Chuyển đổi số mạnh mẽ:</a:t>
            </a:r>
          </a:p>
          <a:p>
            <a:pPr>
              <a:spcAft>
                <a:spcPts val="1600"/>
              </a:spcAft>
            </a:pPr>
            <a:r>
              <a:rPr sz="1600" b="0">
                <a:solidFill>
                  <a:srgbClr val="475569"/>
                </a:solidFill>
                <a:latin typeface="Segoe UI"/>
              </a:rPr>
              <a:t>Phần mềm ngày càng đóng vai trò cốt lõi trong đời sống và sản xuất. Đảm bảo chất lượng sản phẩm là yếu tố sống còn của một hệ thống.</a:t>
            </a:r>
          </a:p>
          <a:p>
            <a:pPr>
              <a:spcAft>
                <a:spcPts val="400"/>
              </a:spcAft>
            </a:pPr>
            <a:r>
              <a:rPr sz="2000" b="1">
                <a:solidFill>
                  <a:srgbClr val="0F172A"/>
                </a:solidFill>
                <a:latin typeface="Segoe UI"/>
              </a:rPr>
              <a:t>Thách thức của QA truyền thống:</a:t>
            </a:r>
          </a:p>
          <a:p>
            <a:pPr>
              <a:spcAft>
                <a:spcPts val="1600"/>
              </a:spcAft>
            </a:pPr>
            <a:r>
              <a:rPr sz="1600" b="0">
                <a:solidFill>
                  <a:srgbClr val="475569"/>
                </a:solidFill>
                <a:latin typeface="Segoe UI"/>
              </a:rPr>
              <a:t>Quy trình kiểm thử thủ công và viết kịch bản lặp đi lặp lại tốn nhiều thời gian, công sức và dễ sai sót khi hệ thống mở rộng.</a:t>
            </a:r>
          </a:p>
          <a:p>
            <a:pPr>
              <a:spcAft>
                <a:spcPts val="400"/>
              </a:spcAft>
            </a:pPr>
            <a:r>
              <a:rPr sz="2000" b="1">
                <a:solidFill>
                  <a:srgbClr val="0F172A"/>
                </a:solidFill>
                <a:latin typeface="Segoe UI"/>
              </a:rPr>
              <a:t>Xu hướng công nghệ mới:</a:t>
            </a:r>
          </a:p>
          <a:p>
            <a:pPr>
              <a:spcAft>
                <a:spcPts val="1600"/>
              </a:spcAft>
            </a:pPr>
            <a:r>
              <a:rPr sz="1600" b="0">
                <a:solidFill>
                  <a:srgbClr val="475569"/>
                </a:solidFill>
                <a:latin typeface="Segoe UI"/>
              </a:rPr>
              <a:t>Sự bùng nổ của Trí tuệ nhân tạo (AI) và Học máy (Machine Learning - ML) mở ra các hướng tiếp cận tự động hóa thông minh.</a:t>
            </a:r>
          </a:p>
          <a:p>
            <a:pPr>
              <a:spcAft>
                <a:spcPts val="400"/>
              </a:spcAft>
            </a:pPr>
            <a:r>
              <a:rPr sz="2000" b="1">
                <a:solidFill>
                  <a:srgbClr val="0F172A"/>
                </a:solidFill>
                <a:latin typeface="Segoe UI"/>
              </a:rPr>
              <a:t>Mục đích đề tài:</a:t>
            </a:r>
          </a:p>
          <a:p>
            <a:pPr>
              <a:spcAft>
                <a:spcPts val="1600"/>
              </a:spcAft>
            </a:pPr>
            <a:r>
              <a:rPr sz="1600" b="0">
                <a:solidFill>
                  <a:srgbClr val="475569"/>
                </a:solidFill>
                <a:latin typeface="Segoe UI"/>
              </a:rPr>
              <a:t>Nghiên cứu lý thuyết AI/ML ứng dụng trong kiểm thử phần mềm, đồng thời xây dựng chương trình thực nghiệm phân loại mức độ lỗi bằng mô hình Cây quyết định (Decision Tree).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3</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1: TỔNG QUAN</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Lý do chọn đề tài &amp; Mục tiêu nghiên cứu</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5120640" cy="4389120"/>
          </a:xfrm>
          <a:prstGeom prst="rect">
            <a:avLst/>
          </a:prstGeom>
          <a:noFill/>
        </p:spPr>
        <p:txBody>
          <a:bodyPr wrap="square" lIns="0" tIns="0">
            <a:spAutoFit/>
          </a:bodyPr>
          <a:lstStyle/>
          <a:p>
            <a:pPr>
              <a:spcAft>
                <a:spcPts val="400"/>
              </a:spcAft>
            </a:pPr>
            <a:r>
              <a:rPr sz="1850" b="1">
                <a:solidFill>
                  <a:srgbClr val="0F172A"/>
                </a:solidFill>
                <a:latin typeface="Segoe UI"/>
              </a:rPr>
              <a:t>Khối lượng lỗi lớn:</a:t>
            </a:r>
          </a:p>
          <a:p>
            <a:pPr>
              <a:spcAft>
                <a:spcPts val="1400"/>
              </a:spcAft>
            </a:pPr>
            <a:r>
              <a:rPr sz="1450" b="0">
                <a:solidFill>
                  <a:srgbClr val="475569"/>
                </a:solidFill>
                <a:latin typeface="Segoe UI"/>
              </a:rPr>
              <a:t>Trong các dự án lớn, hàng trăm lỗi (bugs) phát sinh mỗi ngày. QA tốn nhiều thời gian để phân loại thủ công.</a:t>
            </a:r>
          </a:p>
          <a:p>
            <a:pPr>
              <a:spcAft>
                <a:spcPts val="400"/>
              </a:spcAft>
            </a:pPr>
            <a:r>
              <a:rPr sz="1850" b="1">
                <a:solidFill>
                  <a:srgbClr val="0F172A"/>
                </a:solidFill>
                <a:latin typeface="Segoe UI"/>
              </a:rPr>
              <a:t>Ưu tiên sửa lỗi:</a:t>
            </a:r>
          </a:p>
          <a:p>
            <a:pPr>
              <a:spcAft>
                <a:spcPts val="1400"/>
              </a:spcAft>
            </a:pPr>
            <a:r>
              <a:rPr sz="1450" b="0">
                <a:solidFill>
                  <a:srgbClr val="475569"/>
                </a:solidFill>
                <a:latin typeface="Segoe UI"/>
              </a:rPr>
              <a:t>Việc gán mức độ nghiêm trọng (Severity) giúp xác định thứ tự ưu tiên sửa lỗi, tối ưu hóa tài nguyên và nhân sự.</a:t>
            </a:r>
          </a:p>
          <a:p>
            <a:pPr>
              <a:spcAft>
                <a:spcPts val="400"/>
              </a:spcAft>
            </a:pPr>
            <a:r>
              <a:rPr sz="1850" b="1">
                <a:solidFill>
                  <a:srgbClr val="0F172A"/>
                </a:solidFill>
                <a:latin typeface="Segoe UI"/>
              </a:rPr>
              <a:t>Tự động hóa thông minh:</a:t>
            </a:r>
          </a:p>
          <a:p>
            <a:pPr>
              <a:spcAft>
                <a:spcPts val="1400"/>
              </a:spcAft>
            </a:pPr>
            <a:r>
              <a:rPr sz="1450" b="0">
                <a:solidFill>
                  <a:srgbClr val="475569"/>
                </a:solidFill>
                <a:latin typeface="Segoe UI"/>
              </a:rPr>
              <a:t>Áp dụng Machine Learning giúp tự động phân loại mức độ nghiêm trọng của lỗi nhanh chóng, khách quan.</a:t>
            </a:r>
          </a:p>
          <a:p>
            <a:pPr>
              <a:spcAft>
                <a:spcPts val="400"/>
              </a:spcAft>
            </a:pPr>
            <a:r>
              <a:rPr sz="1850" b="1">
                <a:solidFill>
                  <a:srgbClr val="0F172A"/>
                </a:solidFill>
                <a:latin typeface="Segoe UI"/>
              </a:rPr>
              <a:t>Mục tiêu nghiên cứu:</a:t>
            </a:r>
          </a:p>
          <a:p>
            <a:pPr>
              <a:spcAft>
                <a:spcPts val="1400"/>
              </a:spcAft>
            </a:pPr>
            <a:r>
              <a:rPr sz="1450" b="0">
                <a:solidFill>
                  <a:srgbClr val="475569"/>
                </a:solidFill>
                <a:latin typeface="Segoe UI"/>
              </a:rPr>
              <a:t>Khảo sát các ứng dụng AI/ML trong kiểm thử, xây dựng mô hình Cây quyết định (Decision Tree) và đánh giá độ chính xác.</a:t>
            </a:r>
          </a:p>
        </p:txBody>
      </p:sp>
      <p:sp>
        <p:nvSpPr>
          <p:cNvPr id="10" name="Rectangle 9"/>
          <p:cNvSpPr/>
          <p:nvPr/>
        </p:nvSpPr>
        <p:spPr>
          <a:xfrm>
            <a:off x="6126480" y="1737360"/>
            <a:ext cx="5303520" cy="40233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ug_classification_ai.png"/>
          <p:cNvPicPr>
            <a:picLocks noChangeAspect="1"/>
          </p:cNvPicPr>
          <p:nvPr/>
        </p:nvPicPr>
        <p:blipFill>
          <a:blip r:embed="rId2"/>
          <a:stretch>
            <a:fillRect/>
          </a:stretch>
        </p:blipFill>
        <p:spPr>
          <a:xfrm>
            <a:off x="6217920" y="1828800"/>
            <a:ext cx="5120640" cy="3840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4</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1: TỔNG QUAN</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Phạm vi &amp; Phương pháp nghiên cứu</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10728655" cy="4389120"/>
          </a:xfrm>
          <a:prstGeom prst="rect">
            <a:avLst/>
          </a:prstGeom>
          <a:noFill/>
        </p:spPr>
        <p:txBody>
          <a:bodyPr wrap="square" lIns="0" tIns="0">
            <a:spAutoFit/>
          </a:bodyPr>
          <a:lstStyle/>
          <a:p>
            <a:pPr>
              <a:spcAft>
                <a:spcPts val="400"/>
              </a:spcAft>
            </a:pPr>
            <a:r>
              <a:rPr sz="2000" b="1">
                <a:solidFill>
                  <a:srgbClr val="0F172A"/>
                </a:solidFill>
                <a:latin typeface="Segoe UI"/>
              </a:rPr>
              <a:t>Phạm vi nghiên cứu:</a:t>
            </a:r>
          </a:p>
          <a:p>
            <a:pPr>
              <a:spcAft>
                <a:spcPts val="1600"/>
              </a:spcAft>
            </a:pPr>
            <a:r>
              <a:rPr sz="1600" b="0">
                <a:solidFill>
                  <a:srgbClr val="475569"/>
                </a:solidFill>
                <a:latin typeface="Segoe UI"/>
              </a:rPr>
              <a:t>Tập trung tìm hiểu lý thuyết AI/ML cơ bản liên quan đến kiểm thử phần mềm. Phần thực nghiệm giới hạn trong việc xây dựng mô hình phân loại lỗi sử dụng thuật toán Cây quyết định (Decision Tree).</a:t>
            </a:r>
          </a:p>
          <a:p>
            <a:pPr>
              <a:spcAft>
                <a:spcPts val="400"/>
              </a:spcAft>
            </a:pPr>
            <a:r>
              <a:rPr sz="2000" b="1">
                <a:solidFill>
                  <a:srgbClr val="0F172A"/>
                </a:solidFill>
                <a:latin typeface="Segoe UI"/>
              </a:rPr>
              <a:t>Bộ dữ liệu thực nghiệm:</a:t>
            </a:r>
          </a:p>
          <a:p>
            <a:pPr>
              <a:spcAft>
                <a:spcPts val="1600"/>
              </a:spcAft>
            </a:pPr>
            <a:r>
              <a:rPr sz="1600" b="0">
                <a:solidFill>
                  <a:srgbClr val="475569"/>
                </a:solidFill>
                <a:latin typeface="Segoe UI"/>
              </a:rPr>
              <a:t>Sử dụng tệp dữ liệu mẫu `bugs.csv` chứa các thuộc tính quan trọng: số lượng lỗi phát hiện (Bug_Count), trạng thái làm sập hệ thống (Crash) và nhãn mức độ lỗi (Severity).</a:t>
            </a:r>
          </a:p>
          <a:p>
            <a:pPr>
              <a:spcAft>
                <a:spcPts val="400"/>
              </a:spcAft>
            </a:pPr>
            <a:r>
              <a:rPr sz="2000" b="1">
                <a:solidFill>
                  <a:srgbClr val="0F172A"/>
                </a:solidFill>
                <a:latin typeface="Segoe UI"/>
              </a:rPr>
              <a:t>Phương pháp nghiên cứu lý thuyết:</a:t>
            </a:r>
          </a:p>
          <a:p>
            <a:pPr>
              <a:spcAft>
                <a:spcPts val="1600"/>
              </a:spcAft>
            </a:pPr>
            <a:r>
              <a:rPr sz="1600" b="0">
                <a:solidFill>
                  <a:srgbClr val="475569"/>
                </a:solidFill>
                <a:latin typeface="Segoe UI"/>
              </a:rPr>
              <a:t>Đọc và phân tích các tài liệu học thuật về AI, các giải pháp QA hiện đại tích hợp AI/ML.</a:t>
            </a:r>
          </a:p>
          <a:p>
            <a:pPr>
              <a:spcAft>
                <a:spcPts val="400"/>
              </a:spcAft>
            </a:pPr>
            <a:r>
              <a:rPr sz="2000" b="1">
                <a:solidFill>
                  <a:srgbClr val="0F172A"/>
                </a:solidFill>
                <a:latin typeface="Segoe UI"/>
              </a:rPr>
              <a:t>Phương pháp nghiên cứu thực nghiệm:</a:t>
            </a:r>
          </a:p>
          <a:p>
            <a:pPr>
              <a:spcAft>
                <a:spcPts val="1600"/>
              </a:spcAft>
            </a:pPr>
            <a:r>
              <a:rPr sz="1600" b="0">
                <a:solidFill>
                  <a:srgbClr val="475569"/>
                </a:solidFill>
                <a:latin typeface="Segoe UI"/>
              </a:rPr>
              <a:t>Lập trình Python, sử dụng thư viện xử lý dữ liệu Pandas và thư viện Scikit-learn để xây dựng, huấn luyện và kiểm thử mô hình.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144000" cy="548640"/>
          </a:xfrm>
          <a:prstGeom prst="rect">
            <a:avLst/>
          </a:prstGeom>
          <a:noFill/>
        </p:spPr>
        <p:txBody>
          <a:bodyPr wrap="square">
            <a:spAutoFit/>
          </a:bodyPr>
          <a:lstStyle/>
          <a:p>
            <a:pPr>
              <a:defRPr sz="2200" b="1">
                <a:solidFill>
                  <a:srgbClr val="0D9488"/>
                </a:solidFill>
                <a:latin typeface="Segoe UI"/>
              </a:defRPr>
            </a:pPr>
            <a:r>
              <a:t>CHƯƠNG 2</a:t>
            </a:r>
          </a:p>
        </p:txBody>
      </p:sp>
      <p:sp>
        <p:nvSpPr>
          <p:cNvPr id="4" name="Rectangle 3"/>
          <p:cNvSpPr/>
          <p:nvPr/>
        </p:nvSpPr>
        <p:spPr>
          <a:xfrm>
            <a:off x="1371600" y="2560320"/>
            <a:ext cx="2286000" cy="54864"/>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9144000" cy="2286000"/>
          </a:xfrm>
          <a:prstGeom prst="rect">
            <a:avLst/>
          </a:prstGeom>
          <a:noFill/>
        </p:spPr>
        <p:txBody>
          <a:bodyPr wrap="square">
            <a:spAutoFit/>
          </a:bodyPr>
          <a:lstStyle/>
          <a:p>
            <a:pPr>
              <a:spcBef>
                <a:spcPts val="1000"/>
              </a:spcBef>
              <a:defRPr sz="4000" b="1">
                <a:solidFill>
                  <a:srgbClr val="FFFFFF"/>
                </a:solidFill>
                <a:latin typeface="Georgia"/>
              </a:defRPr>
            </a:pPr>
            <a:r>
              <a:t>Cơ sở lý thuyết về AI/ML trong QA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6</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2: CƠ SỞ LÝ THUYẾT</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Vai trò của Trí tuệ nhân tạo (AI) trong kiểm thử</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10728655" cy="4389120"/>
          </a:xfrm>
          <a:prstGeom prst="rect">
            <a:avLst/>
          </a:prstGeom>
          <a:noFill/>
        </p:spPr>
        <p:txBody>
          <a:bodyPr wrap="square" lIns="0" tIns="0">
            <a:spAutoFit/>
          </a:bodyPr>
          <a:lstStyle/>
          <a:p>
            <a:pPr>
              <a:spcAft>
                <a:spcPts val="400"/>
              </a:spcAft>
            </a:pPr>
            <a:r>
              <a:rPr sz="2000" b="1">
                <a:solidFill>
                  <a:srgbClr val="0F172A"/>
                </a:solidFill>
                <a:latin typeface="Segoe UI"/>
              </a:rPr>
              <a:t>Khái niệm AI:</a:t>
            </a:r>
          </a:p>
          <a:p>
            <a:pPr>
              <a:spcAft>
                <a:spcPts val="1600"/>
              </a:spcAft>
            </a:pPr>
            <a:r>
              <a:rPr sz="1600" b="0">
                <a:solidFill>
                  <a:srgbClr val="475569"/>
                </a:solidFill>
                <a:latin typeface="Segoe UI"/>
              </a:rPr>
              <a:t>Là lĩnh vực khoa học máy tính nghiên cứu và phát triển các hệ thống có khả năng mô phỏng trí thông minh của con người (nhận diện mẫu, học tập, lập luận).</a:t>
            </a:r>
          </a:p>
          <a:p>
            <a:pPr>
              <a:spcAft>
                <a:spcPts val="400"/>
              </a:spcAft>
            </a:pPr>
            <a:r>
              <a:rPr sz="2000" b="1">
                <a:solidFill>
                  <a:srgbClr val="0F172A"/>
                </a:solidFill>
                <a:latin typeface="Segoe UI"/>
              </a:rPr>
              <a:t>Tự động sinh Test Case:</a:t>
            </a:r>
          </a:p>
          <a:p>
            <a:pPr>
              <a:spcAft>
                <a:spcPts val="1600"/>
              </a:spcAft>
            </a:pPr>
            <a:r>
              <a:rPr sz="1600" b="0">
                <a:solidFill>
                  <a:srgbClr val="475569"/>
                </a:solidFill>
                <a:latin typeface="Segoe UI"/>
              </a:rPr>
              <a:t>AI phân tích tài liệu đặc tả, hành vi người dùng để tự động thiết kế và đề xuất kịch bản kiểm thử phù hợp.</a:t>
            </a:r>
          </a:p>
          <a:p>
            <a:pPr>
              <a:spcAft>
                <a:spcPts val="400"/>
              </a:spcAft>
            </a:pPr>
            <a:r>
              <a:rPr sz="2000" b="1">
                <a:solidFill>
                  <a:srgbClr val="0F172A"/>
                </a:solidFill>
                <a:latin typeface="Segoe UI"/>
              </a:rPr>
              <a:t>Dự đoán lỗi (Bug Prediction):</a:t>
            </a:r>
          </a:p>
          <a:p>
            <a:pPr>
              <a:spcAft>
                <a:spcPts val="1600"/>
              </a:spcAft>
            </a:pPr>
            <a:r>
              <a:rPr sz="1600" b="0">
                <a:solidFill>
                  <a:srgbClr val="475569"/>
                </a:solidFill>
                <a:latin typeface="Segoe UI"/>
              </a:rPr>
              <a:t>Phân tích mã nguồn và lịch sử phát triển để chỉ ra các module/chức năng có nguy cơ phát sinh lỗi cao nhất.</a:t>
            </a:r>
          </a:p>
          <a:p>
            <a:pPr>
              <a:spcAft>
                <a:spcPts val="400"/>
              </a:spcAft>
            </a:pPr>
            <a:r>
              <a:rPr sz="2000" b="1">
                <a:solidFill>
                  <a:srgbClr val="0F172A"/>
                </a:solidFill>
                <a:latin typeface="Segoe UI"/>
              </a:rPr>
              <a:t>Phân tích Log tự động:</a:t>
            </a:r>
          </a:p>
          <a:p>
            <a:pPr>
              <a:spcAft>
                <a:spcPts val="1600"/>
              </a:spcAft>
            </a:pPr>
            <a:r>
              <a:rPr sz="1600" b="0">
                <a:solidFill>
                  <a:srgbClr val="475569"/>
                </a:solidFill>
                <a:latin typeface="Segoe UI"/>
              </a:rPr>
              <a:t>Sử dụng AI để rà quét hàng triệu dòng log hệ thống, phát hiện các bất thường (anomalies) trong thời gian thực.</a:t>
            </a:r>
          </a:p>
          <a:p>
            <a:pPr>
              <a:spcAft>
                <a:spcPts val="400"/>
              </a:spcAft>
            </a:pPr>
            <a:r>
              <a:rPr sz="2000" b="1">
                <a:solidFill>
                  <a:srgbClr val="0F172A"/>
                </a:solidFill>
                <a:latin typeface="Segoe UI"/>
              </a:rPr>
              <a:t>Kiểm thử giao diện (UI Visual Testing):</a:t>
            </a:r>
          </a:p>
          <a:p>
            <a:pPr>
              <a:spcAft>
                <a:spcPts val="1600"/>
              </a:spcAft>
            </a:pPr>
            <a:r>
              <a:rPr sz="1600" b="0">
                <a:solidFill>
                  <a:srgbClr val="475569"/>
                </a:solidFill>
                <a:latin typeface="Segoe UI"/>
              </a:rPr>
              <a:t>So sánh trực quan giao diện (Visual Diff) giữa các phiên bản phần mềm để tìm lỗi giao diện tự động.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7</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2: CƠ SỞ LÝ THUYẾT</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Phân loại các phương pháp Học máy (Machine Learning)</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10728655" cy="4389120"/>
          </a:xfrm>
          <a:prstGeom prst="rect">
            <a:avLst/>
          </a:prstGeom>
          <a:noFill/>
        </p:spPr>
        <p:txBody>
          <a:bodyPr wrap="square" lIns="0" tIns="0">
            <a:spAutoFit/>
          </a:bodyPr>
          <a:lstStyle/>
          <a:p>
            <a:pPr>
              <a:spcAft>
                <a:spcPts val="400"/>
              </a:spcAft>
            </a:pPr>
            <a:r>
              <a:rPr sz="2000" b="1">
                <a:solidFill>
                  <a:srgbClr val="0F172A"/>
                </a:solidFill>
                <a:latin typeface="Segoe UI"/>
              </a:rPr>
              <a:t>Khái niệm Machine Learning:</a:t>
            </a:r>
          </a:p>
          <a:p>
            <a:pPr>
              <a:spcAft>
                <a:spcPts val="1600"/>
              </a:spcAft>
            </a:pPr>
            <a:r>
              <a:rPr sz="1600" b="0">
                <a:solidFill>
                  <a:srgbClr val="475569"/>
                </a:solidFill>
                <a:latin typeface="Segoe UI"/>
              </a:rPr>
              <a:t>Nhánh con của AI giúp máy tính tự học hỏi quy luật từ dữ liệu thực tế mà không cần lập trình các quy tắc cứng.</a:t>
            </a:r>
          </a:p>
          <a:p>
            <a:pPr>
              <a:spcAft>
                <a:spcPts val="400"/>
              </a:spcAft>
            </a:pPr>
            <a:r>
              <a:rPr sz="2000" b="1">
                <a:solidFill>
                  <a:srgbClr val="0F172A"/>
                </a:solidFill>
                <a:latin typeface="Segoe UI"/>
              </a:rPr>
              <a:t>Học có giám sát (Supervised Learning):</a:t>
            </a:r>
          </a:p>
          <a:p>
            <a:pPr>
              <a:spcAft>
                <a:spcPts val="1600"/>
              </a:spcAft>
            </a:pPr>
            <a:r>
              <a:rPr sz="1600" b="0">
                <a:solidFill>
                  <a:srgbClr val="475569"/>
                </a:solidFill>
                <a:latin typeface="Segoe UI"/>
              </a:rPr>
              <a:t>Dữ liệu huấn luyện có đầy đủ thuộc tính (Input) và nhãn kết quả (Label/Target). Mô hình học cách dự đoán nhãn cho dữ liệu mới. *Đây là phương pháp chính được sử dụng trong đề tài (nhãn: Severity).*</a:t>
            </a:r>
          </a:p>
          <a:p>
            <a:pPr>
              <a:spcAft>
                <a:spcPts val="400"/>
              </a:spcAft>
            </a:pPr>
            <a:r>
              <a:rPr sz="2000" b="1">
                <a:solidFill>
                  <a:srgbClr val="0F172A"/>
                </a:solidFill>
                <a:latin typeface="Segoe UI"/>
              </a:rPr>
              <a:t>Học không giám sát (Unsupervised Learning):</a:t>
            </a:r>
          </a:p>
          <a:p>
            <a:pPr>
              <a:spcAft>
                <a:spcPts val="1600"/>
              </a:spcAft>
            </a:pPr>
            <a:r>
              <a:rPr sz="1600" b="0">
                <a:solidFill>
                  <a:srgbClr val="475569"/>
                </a:solidFill>
                <a:latin typeface="Segoe UI"/>
              </a:rPr>
              <a:t>Dữ liệu không có nhãn sẵn. Mô hình tự gom nhóm dữ liệu (Clustering) có đặc tính giống nhau. Áp dụng gom nhóm lỗi tương tự, gom nhóm test case trùng lặp.</a:t>
            </a:r>
          </a:p>
          <a:p>
            <a:pPr>
              <a:spcAft>
                <a:spcPts val="400"/>
              </a:spcAft>
            </a:pPr>
            <a:r>
              <a:rPr sz="2000" b="1">
                <a:solidFill>
                  <a:srgbClr val="0F172A"/>
                </a:solidFill>
                <a:latin typeface="Segoe UI"/>
              </a:rPr>
              <a:t>Học tăng cường (Reinforcement Learning):</a:t>
            </a:r>
          </a:p>
          <a:p>
            <a:pPr>
              <a:spcAft>
                <a:spcPts val="1600"/>
              </a:spcAft>
            </a:pPr>
            <a:r>
              <a:rPr sz="1600" b="0">
                <a:solidFill>
                  <a:srgbClr val="475569"/>
                </a:solidFill>
                <a:latin typeface="Segoe UI"/>
              </a:rPr>
              <a:t>Mô hình tự học thông qua hành động tương tác với môi trường và nhận phản hồi thưởng/phạt. Áp dụng tối ưu hóa thứ tự chạy bộ test case.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8</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2: CƠ SỞ LÝ THUYẾT</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Nguyên lý hoạt động của thuật toán Cây quyết định</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5120640" cy="4389120"/>
          </a:xfrm>
          <a:prstGeom prst="rect">
            <a:avLst/>
          </a:prstGeom>
          <a:noFill/>
        </p:spPr>
        <p:txBody>
          <a:bodyPr wrap="square" lIns="0" tIns="0">
            <a:spAutoFit/>
          </a:bodyPr>
          <a:lstStyle/>
          <a:p>
            <a:pPr>
              <a:spcAft>
                <a:spcPts val="400"/>
              </a:spcAft>
            </a:pPr>
            <a:r>
              <a:rPr sz="1850" b="1">
                <a:solidFill>
                  <a:srgbClr val="0F172A"/>
                </a:solidFill>
                <a:latin typeface="Segoe UI"/>
              </a:rPr>
              <a:t>Nguyên lý hoạt động:</a:t>
            </a:r>
          </a:p>
          <a:p>
            <a:pPr>
              <a:spcAft>
                <a:spcPts val="1400"/>
              </a:spcAft>
            </a:pPr>
            <a:r>
              <a:rPr sz="1450" b="0">
                <a:solidFill>
                  <a:srgbClr val="475569"/>
                </a:solidFill>
                <a:latin typeface="Segoe UI"/>
              </a:rPr>
              <a:t>Là thuật toán học có giám sát. Xây dựng một cấu trúc hình cây bao gồm các nút quyết định (Decision Nodes) chứa điều kiện kiểm tra, các nhánh (Branches) và nút lá (Leaf Nodes) chứa nhãn kết quả.</a:t>
            </a:r>
          </a:p>
          <a:p>
            <a:pPr>
              <a:spcAft>
                <a:spcPts val="400"/>
              </a:spcAft>
            </a:pPr>
            <a:r>
              <a:rPr sz="1850" b="1">
                <a:solidFill>
                  <a:srgbClr val="0F172A"/>
                </a:solidFill>
                <a:latin typeface="Segoe UI"/>
              </a:rPr>
              <a:t>Quy trình phân loại:</a:t>
            </a:r>
          </a:p>
          <a:p>
            <a:pPr>
              <a:spcAft>
                <a:spcPts val="1400"/>
              </a:spcAft>
            </a:pPr>
            <a:r>
              <a:rPr sz="1450" b="0">
                <a:solidFill>
                  <a:srgbClr val="475569"/>
                </a:solidFill>
                <a:latin typeface="Segoe UI"/>
              </a:rPr>
              <a:t>Bắt đầu từ nút gốc, kiểm tra giá trị của thuộc tính, rẽ nhánh tương ứng, tiếp tục kiểm tra nút con cho đến khi đạt được kết quả ở nút lá.</a:t>
            </a:r>
          </a:p>
          <a:p>
            <a:pPr>
              <a:spcAft>
                <a:spcPts val="400"/>
              </a:spcAft>
            </a:pPr>
            <a:r>
              <a:rPr sz="1850" b="1">
                <a:solidFill>
                  <a:srgbClr val="0F172A"/>
                </a:solidFill>
                <a:latin typeface="Segoe UI"/>
              </a:rPr>
              <a:t>Luật quyết định 1 (Critical):</a:t>
            </a:r>
          </a:p>
          <a:p>
            <a:pPr>
              <a:spcAft>
                <a:spcPts val="1400"/>
              </a:spcAft>
            </a:pPr>
            <a:r>
              <a:rPr sz="1450" b="0">
                <a:solidFill>
                  <a:srgbClr val="475569"/>
                </a:solidFill>
                <a:latin typeface="Segoe UI"/>
              </a:rPr>
              <a:t>Nếu Crash = 1 -&gt; Lỗi nghiêm trọng (Critical).</a:t>
            </a:r>
          </a:p>
          <a:p>
            <a:pPr>
              <a:spcAft>
                <a:spcPts val="400"/>
              </a:spcAft>
            </a:pPr>
            <a:r>
              <a:rPr sz="1850" b="1">
                <a:solidFill>
                  <a:srgbClr val="0F172A"/>
                </a:solidFill>
                <a:latin typeface="Segoe UI"/>
              </a:rPr>
              <a:t>Luật quyết định 2 (Minor):</a:t>
            </a:r>
          </a:p>
          <a:p>
            <a:pPr>
              <a:spcAft>
                <a:spcPts val="1400"/>
              </a:spcAft>
            </a:pPr>
            <a:r>
              <a:rPr sz="1450" b="0">
                <a:solidFill>
                  <a:srgbClr val="475569"/>
                </a:solidFill>
                <a:latin typeface="Segoe UI"/>
              </a:rPr>
              <a:t>Nếu Crash = 0 và Bug_Count &lt;= 3 -&gt; Lỗi nhẹ (Minor).</a:t>
            </a:r>
          </a:p>
          <a:p>
            <a:pPr>
              <a:spcAft>
                <a:spcPts val="400"/>
              </a:spcAft>
            </a:pPr>
            <a:r>
              <a:rPr sz="1850" b="1">
                <a:solidFill>
                  <a:srgbClr val="0F172A"/>
                </a:solidFill>
                <a:latin typeface="Segoe UI"/>
              </a:rPr>
              <a:t>Luật quyết định 3 (Major):</a:t>
            </a:r>
          </a:p>
          <a:p>
            <a:pPr>
              <a:spcAft>
                <a:spcPts val="1400"/>
              </a:spcAft>
            </a:pPr>
            <a:r>
              <a:rPr sz="1450" b="0">
                <a:solidFill>
                  <a:srgbClr val="475569"/>
                </a:solidFill>
                <a:latin typeface="Segoe UI"/>
              </a:rPr>
              <a:t>Nếu Crash = 0 và Bug_Count &gt; 3 -&gt; Lỗi trung bình (Major).</a:t>
            </a:r>
          </a:p>
          <a:p>
            <a:pPr>
              <a:spcAft>
                <a:spcPts val="400"/>
              </a:spcAft>
            </a:pPr>
            <a:r>
              <a:rPr sz="1850" b="1">
                <a:solidFill>
                  <a:srgbClr val="0F172A"/>
                </a:solidFill>
                <a:latin typeface="Segoe UI"/>
              </a:rPr>
              <a:t>Đặc tính thuật toán:</a:t>
            </a:r>
          </a:p>
          <a:p>
            <a:pPr>
              <a:spcAft>
                <a:spcPts val="1400"/>
              </a:spcAft>
            </a:pPr>
            <a:r>
              <a:rPr sz="1450" b="0">
                <a:solidFill>
                  <a:srgbClr val="475569"/>
                </a:solidFill>
                <a:latin typeface="Segoe UI"/>
              </a:rPr>
              <a:t>Thuật toán rất trực quan, dễ lập trình, thời gian chạy cực kỳ nhanh, phù hợp dữ liệu kích thước nhỏ.</a:t>
            </a:r>
          </a:p>
        </p:txBody>
      </p:sp>
      <p:sp>
        <p:nvSpPr>
          <p:cNvPr id="10" name="Rectangle 9"/>
          <p:cNvSpPr/>
          <p:nvPr/>
        </p:nvSpPr>
        <p:spPr>
          <a:xfrm>
            <a:off x="6126480" y="1737360"/>
            <a:ext cx="5303520" cy="40233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ecision_tree_flow.png"/>
          <p:cNvPicPr>
            <a:picLocks noChangeAspect="1"/>
          </p:cNvPicPr>
          <p:nvPr/>
        </p:nvPicPr>
        <p:blipFill>
          <a:blip r:embed="rId2"/>
          <a:stretch>
            <a:fillRect/>
          </a:stretch>
        </p:blipFill>
        <p:spPr>
          <a:xfrm>
            <a:off x="6217920" y="1828800"/>
            <a:ext cx="5120640" cy="3840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144000" cy="548640"/>
          </a:xfrm>
          <a:prstGeom prst="rect">
            <a:avLst/>
          </a:prstGeom>
          <a:noFill/>
        </p:spPr>
        <p:txBody>
          <a:bodyPr wrap="square">
            <a:spAutoFit/>
          </a:bodyPr>
          <a:lstStyle/>
          <a:p>
            <a:pPr>
              <a:defRPr sz="2200" b="1">
                <a:solidFill>
                  <a:srgbClr val="0D9488"/>
                </a:solidFill>
                <a:latin typeface="Segoe UI"/>
              </a:defRPr>
            </a:pPr>
            <a:r>
              <a:t>CHƯƠNG 3</a:t>
            </a:r>
          </a:p>
        </p:txBody>
      </p:sp>
      <p:sp>
        <p:nvSpPr>
          <p:cNvPr id="4" name="Rectangle 3"/>
          <p:cNvSpPr/>
          <p:nvPr/>
        </p:nvSpPr>
        <p:spPr>
          <a:xfrm>
            <a:off x="1371600" y="2560320"/>
            <a:ext cx="2286000" cy="54864"/>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9144000" cy="2286000"/>
          </a:xfrm>
          <a:prstGeom prst="rect">
            <a:avLst/>
          </a:prstGeom>
          <a:noFill/>
        </p:spPr>
        <p:txBody>
          <a:bodyPr wrap="square">
            <a:spAutoFit/>
          </a:bodyPr>
          <a:lstStyle/>
          <a:p>
            <a:pPr>
              <a:spcBef>
                <a:spcPts val="1000"/>
              </a:spcBef>
              <a:defRPr sz="4000" b="1">
                <a:solidFill>
                  <a:srgbClr val="FFFFFF"/>
                </a:solidFill>
                <a:latin typeface="Georgia"/>
              </a:defRPr>
            </a:pPr>
            <a:r>
              <a:t>Phân tích bài toán &amp; Thiết kế mô hình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10</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3: PHÂN TÍCH &amp; THIẾT KẾ</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Mô tả bài toán phân loại mức độ nghiêm trọng của lỗi</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10728655" cy="4389120"/>
          </a:xfrm>
          <a:prstGeom prst="rect">
            <a:avLst/>
          </a:prstGeom>
          <a:noFill/>
        </p:spPr>
        <p:txBody>
          <a:bodyPr wrap="square" lIns="0" tIns="0">
            <a:spAutoFit/>
          </a:bodyPr>
          <a:lstStyle/>
          <a:p>
            <a:pPr>
              <a:spcAft>
                <a:spcPts val="400"/>
              </a:spcAft>
            </a:pPr>
            <a:r>
              <a:rPr sz="2000" b="1">
                <a:solidFill>
                  <a:srgbClr val="0F172A"/>
                </a:solidFill>
                <a:latin typeface="Segoe UI"/>
              </a:rPr>
              <a:t>Mô hình bài toán:</a:t>
            </a:r>
          </a:p>
          <a:p>
            <a:pPr>
              <a:spcAft>
                <a:spcPts val="1600"/>
              </a:spcAft>
            </a:pPr>
            <a:r>
              <a:rPr sz="1600" b="0">
                <a:solidFill>
                  <a:srgbClr val="475569"/>
                </a:solidFill>
                <a:latin typeface="Segoe UI"/>
              </a:rPr>
              <a:t>Phân loại đa lớp (Multi-class Classification) dựa trên các thuộc tính kỹ thuật của lỗi.</a:t>
            </a:r>
          </a:p>
          <a:p>
            <a:pPr>
              <a:spcAft>
                <a:spcPts val="400"/>
              </a:spcAft>
            </a:pPr>
            <a:r>
              <a:rPr sz="2000" b="1">
                <a:solidFill>
                  <a:srgbClr val="0F172A"/>
                </a:solidFill>
                <a:latin typeface="Segoe UI"/>
              </a:rPr>
              <a:t>Thuộc tính Bug_Count (Số lượng lỗi):</a:t>
            </a:r>
          </a:p>
          <a:p>
            <a:pPr>
              <a:spcAft>
                <a:spcPts val="1600"/>
              </a:spcAft>
            </a:pPr>
            <a:r>
              <a:rPr sz="1600" b="0">
                <a:solidFill>
                  <a:srgbClr val="475569"/>
                </a:solidFill>
                <a:latin typeface="Segoe UI"/>
              </a:rPr>
              <a:t>Biểu thị tần suất xuất hiện lỗi trong chức năng (Kiểu số nguyên). Tần suất cao chỉ ra mức ảnh hưởng lớn.</a:t>
            </a:r>
          </a:p>
          <a:p>
            <a:pPr>
              <a:spcAft>
                <a:spcPts val="400"/>
              </a:spcAft>
            </a:pPr>
            <a:r>
              <a:rPr sz="2000" b="1">
                <a:solidFill>
                  <a:srgbClr val="0F172A"/>
                </a:solidFill>
                <a:latin typeface="Segoe UI"/>
              </a:rPr>
              <a:t>Thuộc tính Crash (Gây sập hệ thống):</a:t>
            </a:r>
          </a:p>
          <a:p>
            <a:pPr>
              <a:spcAft>
                <a:spcPts val="1600"/>
              </a:spcAft>
            </a:pPr>
            <a:r>
              <a:rPr sz="1600" b="0">
                <a:solidFill>
                  <a:srgbClr val="475569"/>
                </a:solidFill>
                <a:latin typeface="Segoe UI"/>
              </a:rPr>
              <a:t>Trạng thái lỗi có gây sập phần mềm hay không (0: Không sập, 1: Gây sập).</a:t>
            </a:r>
          </a:p>
          <a:p>
            <a:pPr>
              <a:spcAft>
                <a:spcPts val="400"/>
              </a:spcAft>
            </a:pPr>
            <a:r>
              <a:rPr sz="2000" b="1">
                <a:solidFill>
                  <a:srgbClr val="0F172A"/>
                </a:solidFill>
                <a:latin typeface="Segoe UI"/>
              </a:rPr>
              <a:t>Nhãn Severity (Mức độ nghiêm trọng):</a:t>
            </a:r>
          </a:p>
          <a:p>
            <a:pPr>
              <a:spcAft>
                <a:spcPts val="1600"/>
              </a:spcAft>
            </a:pPr>
            <a:r>
              <a:rPr sz="1600" b="0">
                <a:solidFill>
                  <a:srgbClr val="475569"/>
                </a:solidFill>
                <a:latin typeface="Segoe UI"/>
              </a:rPr>
              <a:t>Gồm 3 lớp nhãn: Minor (Lỗi nhẹ), Major (Lỗi trung bình), Critical (Lỗi nghiêm trọng).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11</a:t>
            </a:r>
          </a:p>
        </p:txBody>
      </p:sp>
      <p:sp>
        <p:nvSpPr>
          <p:cNvPr id="6" name="TextBox 5"/>
          <p:cNvSpPr txBox="1"/>
          <p:nvPr/>
        </p:nvSpPr>
        <p:spPr>
          <a:xfrm>
            <a:off x="731520" y="365760"/>
            <a:ext cx="10728655" cy="1005840"/>
          </a:xfrm>
          <a:prstGeom prst="rect">
            <a:avLst/>
          </a:prstGeom>
          <a:noFill/>
        </p:spPr>
        <p:txBody>
          <a:bodyPr wrap="none">
            <a:spAutoFit/>
          </a:bodyPr>
          <a:lstStyle/>
          <a:p>
            <a:pPr>
              <a:defRPr sz="1100" b="1">
                <a:solidFill>
                  <a:srgbClr val="2563EB"/>
                </a:solidFill>
                <a:latin typeface="Segoe UI"/>
              </a:defRPr>
            </a:pPr>
            <a:r>
              <a:t>CHƯƠNG 3: PHÂN TÍCH &amp; THIẾT KẾ</a:t>
            </a:r>
          </a:p>
          <a:p>
            <a:pPr>
              <a:defRPr sz="3000" b="1">
                <a:solidFill>
                  <a:srgbClr val="0F172A"/>
                </a:solidFill>
                <a:latin typeface="Georgia"/>
              </a:defRPr>
            </a:pPr>
            <a:r>
              <a:t>Bộ dữ liệu thực nghiệm (bugs.csv)</a:t>
            </a:r>
          </a:p>
        </p:txBody>
      </p:sp>
      <p:sp>
        <p:nvSpPr>
          <p:cNvPr id="7" name="Rectangle 6"/>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120640" cy="4389120"/>
          </a:xfrm>
          <a:prstGeom prst="rect">
            <a:avLst/>
          </a:prstGeom>
          <a:noFill/>
        </p:spPr>
        <p:txBody>
          <a:bodyPr wrap="square" lIns="0" tIns="0">
            <a:spAutoFit/>
          </a:bodyPr>
          <a:lstStyle/>
          <a:p>
            <a:pPr>
              <a:spcAft>
                <a:spcPts val="400"/>
              </a:spcAft>
            </a:pPr>
            <a:r>
              <a:rPr sz="1900" b="1">
                <a:solidFill>
                  <a:srgbClr val="0F172A"/>
                </a:solidFill>
                <a:latin typeface="Segoe UI"/>
              </a:rPr>
              <a:t>Dữ liệu mẫu:</a:t>
            </a:r>
          </a:p>
          <a:p>
            <a:pPr>
              <a:spcAft>
                <a:spcPts val="1400"/>
              </a:spcAft>
            </a:pPr>
            <a:r>
              <a:rPr sz="1500" b="0">
                <a:solidFill>
                  <a:srgbClr val="475569"/>
                </a:solidFill>
                <a:latin typeface="Segoe UI"/>
              </a:rPr>
              <a:t>Bộ dữ liệu bao gồm 16 bản ghi mẫu mô phỏng các trường hợp lỗi phần mềm thực tế.</a:t>
            </a:r>
          </a:p>
          <a:p>
            <a:pPr>
              <a:spcAft>
                <a:spcPts val="400"/>
              </a:spcAft>
            </a:pPr>
            <a:r>
              <a:rPr sz="1900" b="1">
                <a:solidFill>
                  <a:srgbClr val="0F172A"/>
                </a:solidFill>
                <a:latin typeface="Segoe UI"/>
              </a:rPr>
              <a:t>Cấu trúc cột:</a:t>
            </a:r>
          </a:p>
          <a:p>
            <a:pPr>
              <a:spcAft>
                <a:spcPts val="1400"/>
              </a:spcAft>
            </a:pPr>
            <a:r>
              <a:rPr sz="1500" b="0">
                <a:solidFill>
                  <a:srgbClr val="475569"/>
                </a:solidFill>
                <a:latin typeface="Segoe UI"/>
              </a:rPr>
              <a:t>Ba cột rõ ràng bao gồm `Bug_Count`, `Crash` và `Severity` đóng vai trò nhãn.</a:t>
            </a:r>
          </a:p>
          <a:p>
            <a:pPr>
              <a:spcAft>
                <a:spcPts val="400"/>
              </a:spcAft>
            </a:pPr>
            <a:r>
              <a:rPr sz="1900" b="1">
                <a:solidFill>
                  <a:srgbClr val="0F172A"/>
                </a:solidFill>
                <a:latin typeface="Segoe UI"/>
              </a:rPr>
              <a:t>Quy luật ngầm định:</a:t>
            </a:r>
          </a:p>
          <a:p>
            <a:pPr>
              <a:spcAft>
                <a:spcPts val="1400"/>
              </a:spcAft>
            </a:pPr>
            <a:r>
              <a:rPr sz="1500" b="0">
                <a:solidFill>
                  <a:srgbClr val="475569"/>
                </a:solidFill>
                <a:latin typeface="Segoe UI"/>
              </a:rPr>
              <a:t>Các lỗi có `Crash = 1` hầu hết là `Critical`. Các lỗi `Crash = 0` được phân loại dựa trên số lượng lỗi tích lũy `Bug_Count`.</a:t>
            </a:r>
          </a:p>
        </p:txBody>
      </p:sp>
      <p:sp>
        <p:nvSpPr>
          <p:cNvPr id="9" name="Rounded Rectangle 8"/>
          <p:cNvSpPr/>
          <p:nvPr/>
        </p:nvSpPr>
        <p:spPr>
          <a:xfrm>
            <a:off x="6217920" y="1645920"/>
            <a:ext cx="5029200" cy="1280160"/>
          </a:xfrm>
          <a:prstGeom prst="roundRect">
            <a:avLst/>
          </a:prstGeom>
          <a:solidFill>
            <a:srgbClr val="F0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719072"/>
            <a:ext cx="73152" cy="1133856"/>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55648"/>
            <a:ext cx="4709160" cy="1060704"/>
          </a:xfrm>
          <a:prstGeom prst="rect">
            <a:avLst/>
          </a:prstGeom>
          <a:noFill/>
        </p:spPr>
        <p:txBody>
          <a:bodyPr wrap="square" lIns="0" rIns="0" tIns="0" bIns="0">
            <a:spAutoFit/>
          </a:bodyPr>
          <a:lstStyle/>
          <a:p>
            <a:pPr>
              <a:spcAft>
                <a:spcPts val="800"/>
              </a:spcAft>
              <a:defRPr sz="1450" b="1">
                <a:solidFill>
                  <a:srgbClr val="0F172A"/>
                </a:solidFill>
                <a:latin typeface="Segoe UI"/>
              </a:defRPr>
            </a:pPr>
            <a:r>
              <a:t>Mẫu Lỗi Nhẹ (Minor)</a:t>
            </a:r>
          </a:p>
          <a:p>
            <a:pPr>
              <a:spcAft>
                <a:spcPts val="600"/>
              </a:spcAft>
            </a:pPr>
            <a:r>
              <a:rPr sz="1300" b="0">
                <a:solidFill>
                  <a:srgbClr val="0F172A"/>
                </a:solidFill>
                <a:latin typeface="Segoe UI"/>
              </a:rPr>
              <a:t>Bug_Count = 1, 2, 3</a:t>
            </a:r>
          </a:p>
          <a:p>
            <a:pPr>
              <a:spcAft>
                <a:spcPts val="600"/>
              </a:spcAft>
            </a:pPr>
            <a:r>
              <a:rPr sz="1300" b="0">
                <a:solidFill>
                  <a:srgbClr val="0F172A"/>
                </a:solidFill>
                <a:latin typeface="Segoe UI"/>
              </a:rPr>
              <a:t>Crash = 0 (Không sập)</a:t>
            </a:r>
          </a:p>
          <a:p>
            <a:pPr>
              <a:spcAft>
                <a:spcPts val="600"/>
              </a:spcAft>
            </a:pPr>
            <a:r>
              <a:rPr sz="1300" b="0">
                <a:solidFill>
                  <a:srgbClr val="0F172A"/>
                </a:solidFill>
                <a:latin typeface="Segoe UI"/>
              </a:rPr>
              <a:t>Severity = Minor (Lỗi nhẹ)</a:t>
            </a:r>
          </a:p>
        </p:txBody>
      </p:sp>
      <p:sp>
        <p:nvSpPr>
          <p:cNvPr id="12" name="Rounded Rectangle 11"/>
          <p:cNvSpPr/>
          <p:nvPr/>
        </p:nvSpPr>
        <p:spPr>
          <a:xfrm>
            <a:off x="6217920" y="3108960"/>
            <a:ext cx="502920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3182112"/>
            <a:ext cx="73152" cy="113385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218688"/>
            <a:ext cx="4709160" cy="1060704"/>
          </a:xfrm>
          <a:prstGeom prst="rect">
            <a:avLst/>
          </a:prstGeom>
          <a:noFill/>
        </p:spPr>
        <p:txBody>
          <a:bodyPr wrap="square" lIns="0" rIns="0" tIns="0" bIns="0">
            <a:spAutoFit/>
          </a:bodyPr>
          <a:lstStyle/>
          <a:p>
            <a:pPr>
              <a:spcAft>
                <a:spcPts val="800"/>
              </a:spcAft>
              <a:defRPr sz="1450" b="1">
                <a:solidFill>
                  <a:srgbClr val="0F172A"/>
                </a:solidFill>
                <a:latin typeface="Segoe UI"/>
              </a:defRPr>
            </a:pPr>
            <a:r>
              <a:t>Mẫu Lỗi Trung Bình (Major)</a:t>
            </a:r>
          </a:p>
          <a:p>
            <a:pPr>
              <a:spcAft>
                <a:spcPts val="600"/>
              </a:spcAft>
            </a:pPr>
            <a:r>
              <a:rPr sz="1300" b="0">
                <a:solidFill>
                  <a:srgbClr val="0F172A"/>
                </a:solidFill>
                <a:latin typeface="Segoe UI"/>
              </a:rPr>
              <a:t>Bug_Count = 4, 5, 7</a:t>
            </a:r>
          </a:p>
          <a:p>
            <a:pPr>
              <a:spcAft>
                <a:spcPts val="600"/>
              </a:spcAft>
            </a:pPr>
            <a:r>
              <a:rPr sz="1300" b="0">
                <a:solidFill>
                  <a:srgbClr val="0F172A"/>
                </a:solidFill>
                <a:latin typeface="Segoe UI"/>
              </a:rPr>
              <a:t>Crash = 0 hoặc 1 (Lỗi chức năng)</a:t>
            </a:r>
          </a:p>
          <a:p>
            <a:pPr>
              <a:spcAft>
                <a:spcPts val="600"/>
              </a:spcAft>
            </a:pPr>
            <a:r>
              <a:rPr sz="1300" b="0">
                <a:solidFill>
                  <a:srgbClr val="0F172A"/>
                </a:solidFill>
                <a:latin typeface="Segoe UI"/>
              </a:rPr>
              <a:t>Severity = Major (Trung bình)</a:t>
            </a:r>
          </a:p>
        </p:txBody>
      </p:sp>
      <p:sp>
        <p:nvSpPr>
          <p:cNvPr id="15" name="Rounded Rectangle 14"/>
          <p:cNvSpPr/>
          <p:nvPr/>
        </p:nvSpPr>
        <p:spPr>
          <a:xfrm>
            <a:off x="6217920" y="4572000"/>
            <a:ext cx="5029200" cy="1280160"/>
          </a:xfrm>
          <a:prstGeom prst="roundRect">
            <a:avLst/>
          </a:prstGeom>
          <a:solidFill>
            <a:srgbClr val="FEF2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4645152"/>
            <a:ext cx="73152" cy="1133856"/>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681728"/>
            <a:ext cx="4709160" cy="1060704"/>
          </a:xfrm>
          <a:prstGeom prst="rect">
            <a:avLst/>
          </a:prstGeom>
          <a:noFill/>
        </p:spPr>
        <p:txBody>
          <a:bodyPr wrap="square" lIns="0" rIns="0" tIns="0" bIns="0">
            <a:spAutoFit/>
          </a:bodyPr>
          <a:lstStyle/>
          <a:p>
            <a:pPr>
              <a:spcAft>
                <a:spcPts val="800"/>
              </a:spcAft>
              <a:defRPr sz="1450" b="1">
                <a:solidFill>
                  <a:srgbClr val="0F172A"/>
                </a:solidFill>
                <a:latin typeface="Segoe UI"/>
              </a:defRPr>
            </a:pPr>
            <a:r>
              <a:t>Mẫu Lỗi Nghiêm Trọng (Critical)</a:t>
            </a:r>
          </a:p>
          <a:p>
            <a:pPr>
              <a:spcAft>
                <a:spcPts val="600"/>
              </a:spcAft>
            </a:pPr>
            <a:r>
              <a:rPr sz="1300" b="0">
                <a:solidFill>
                  <a:srgbClr val="0F172A"/>
                </a:solidFill>
                <a:latin typeface="Segoe UI"/>
              </a:rPr>
              <a:t>Bug_Count = 5, 6, 7, 8, 9, 10</a:t>
            </a:r>
          </a:p>
          <a:p>
            <a:pPr>
              <a:spcAft>
                <a:spcPts val="600"/>
              </a:spcAft>
            </a:pPr>
            <a:r>
              <a:rPr sz="1300" b="0">
                <a:solidFill>
                  <a:srgbClr val="0F172A"/>
                </a:solidFill>
                <a:latin typeface="Segoe UI"/>
              </a:rPr>
              <a:t>Crash = 1 (Có sập hệ thống)</a:t>
            </a:r>
          </a:p>
          <a:p>
            <a:pPr>
              <a:spcAft>
                <a:spcPts val="600"/>
              </a:spcAft>
            </a:pPr>
            <a:r>
              <a:rPr sz="1300" b="0">
                <a:solidFill>
                  <a:srgbClr val="0F172A"/>
                </a:solidFill>
                <a:latin typeface="Segoe UI"/>
              </a:rPr>
              <a:t>Severity = Critical (Nghiêm trọng)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12</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3: PHÂN TÍCH &amp; THIẾT KẾ</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Quy trình xây dựng mô hình Machine Learning</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10728655" cy="4389120"/>
          </a:xfrm>
          <a:prstGeom prst="rect">
            <a:avLst/>
          </a:prstGeom>
          <a:noFill/>
        </p:spPr>
        <p:txBody>
          <a:bodyPr wrap="square" lIns="0" tIns="0">
            <a:spAutoFit/>
          </a:bodyPr>
          <a:lstStyle/>
          <a:p>
            <a:pPr>
              <a:spcAft>
                <a:spcPts val="400"/>
              </a:spcAft>
            </a:pPr>
            <a:r>
              <a:rPr sz="2000" b="1">
                <a:solidFill>
                  <a:srgbClr val="0F172A"/>
                </a:solidFill>
                <a:latin typeface="Segoe UI"/>
              </a:rPr>
              <a:t>Bước 1: Đọc dữ liệu (Load Dataset):</a:t>
            </a:r>
          </a:p>
          <a:p>
            <a:pPr>
              <a:spcAft>
                <a:spcPts val="1600"/>
              </a:spcAft>
            </a:pPr>
            <a:r>
              <a:rPr sz="1600" b="0">
                <a:solidFill>
                  <a:srgbClr val="475569"/>
                </a:solidFill>
                <a:latin typeface="Segoe UI"/>
              </a:rPr>
              <a:t>Đọc dữ liệu từ file `bugs.csv` bằng thư viện `Pandas`, lưu trữ dưới dạng bảng DataFrame.</a:t>
            </a:r>
          </a:p>
          <a:p>
            <a:pPr>
              <a:spcAft>
                <a:spcPts val="400"/>
              </a:spcAft>
            </a:pPr>
            <a:r>
              <a:rPr sz="2000" b="1">
                <a:solidFill>
                  <a:srgbClr val="0F172A"/>
                </a:solidFill>
                <a:latin typeface="Segoe UI"/>
              </a:rPr>
              <a:t>Bước 2: Tách thuộc tính và nhãn (X/y Split):</a:t>
            </a:r>
          </a:p>
          <a:p>
            <a:pPr>
              <a:spcAft>
                <a:spcPts val="1600"/>
              </a:spcAft>
            </a:pPr>
            <a:r>
              <a:rPr sz="1600" b="0">
                <a:solidFill>
                  <a:srgbClr val="475569"/>
                </a:solidFill>
                <a:latin typeface="Segoe UI"/>
              </a:rPr>
              <a:t>Tách cột dữ liệu đầu vào `X = [['Bug_Count', 'Crash']]` và nhãn mong muốn `y = ['Severity']`.</a:t>
            </a:r>
          </a:p>
          <a:p>
            <a:pPr>
              <a:spcAft>
                <a:spcPts val="400"/>
              </a:spcAft>
            </a:pPr>
            <a:r>
              <a:rPr sz="2000" b="1">
                <a:solidFill>
                  <a:srgbClr val="0F172A"/>
                </a:solidFill>
                <a:latin typeface="Segoe UI"/>
              </a:rPr>
              <a:t>Bước 3: Chia tập Train / Test (Data Splitting):</a:t>
            </a:r>
          </a:p>
          <a:p>
            <a:pPr>
              <a:spcAft>
                <a:spcPts val="1600"/>
              </a:spcAft>
            </a:pPr>
            <a:r>
              <a:rPr sz="1600" b="0">
                <a:solidFill>
                  <a:srgbClr val="475569"/>
                </a:solidFill>
                <a:latin typeface="Segoe UI"/>
              </a:rPr>
              <a:t>Chia bộ dữ liệu theo tỷ lệ 80% để huấn luyện (Training set) và 20% để kiểm tra (Testing set) bằng hàm `train_test_split` của Scikit-learn.</a:t>
            </a:r>
          </a:p>
          <a:p>
            <a:pPr>
              <a:spcAft>
                <a:spcPts val="400"/>
              </a:spcAft>
            </a:pPr>
            <a:r>
              <a:rPr sz="2000" b="1">
                <a:solidFill>
                  <a:srgbClr val="0F172A"/>
                </a:solidFill>
                <a:latin typeface="Segoe UI"/>
              </a:rPr>
              <a:t>Bước 4: Huấn luyện (Model Training):</a:t>
            </a:r>
          </a:p>
          <a:p>
            <a:pPr>
              <a:spcAft>
                <a:spcPts val="1600"/>
              </a:spcAft>
            </a:pPr>
            <a:r>
              <a:rPr sz="1600" b="0">
                <a:solidFill>
                  <a:srgbClr val="475569"/>
                </a:solidFill>
                <a:latin typeface="Segoe UI"/>
              </a:rPr>
              <a:t>Khởi tạo mô hình cây quyết định `DecisionTreeClassifier()` và huấn luyện mô hình bằng lệnh `model.fit(X_train, y_train)`.</a:t>
            </a:r>
          </a:p>
          <a:p>
            <a:pPr>
              <a:spcAft>
                <a:spcPts val="400"/>
              </a:spcAft>
            </a:pPr>
            <a:r>
              <a:rPr sz="2000" b="1">
                <a:solidFill>
                  <a:srgbClr val="0F172A"/>
                </a:solidFill>
                <a:latin typeface="Segoe UI"/>
              </a:rPr>
              <a:t>Bước 5: Dự đoán và Đánh giá (Evaluation):</a:t>
            </a:r>
          </a:p>
          <a:p>
            <a:pPr>
              <a:spcAft>
                <a:spcPts val="1600"/>
              </a:spcAft>
            </a:pPr>
            <a:r>
              <a:rPr sz="1600" b="0">
                <a:solidFill>
                  <a:srgbClr val="475569"/>
                </a:solidFill>
                <a:latin typeface="Segoe UI"/>
              </a:rPr>
              <a:t>Thực hiện dự đoán trên tập Test bằng `model.predict(X_test)` và đánh giá độ chính xác thông qua hàm `accuracy_score`.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144000" cy="548640"/>
          </a:xfrm>
          <a:prstGeom prst="rect">
            <a:avLst/>
          </a:prstGeom>
          <a:noFill/>
        </p:spPr>
        <p:txBody>
          <a:bodyPr wrap="square">
            <a:spAutoFit/>
          </a:bodyPr>
          <a:lstStyle/>
          <a:p>
            <a:pPr>
              <a:defRPr sz="2200" b="1">
                <a:solidFill>
                  <a:srgbClr val="0D9488"/>
                </a:solidFill>
                <a:latin typeface="Segoe UI"/>
              </a:defRPr>
            </a:pPr>
            <a:r>
              <a:t>CHƯƠNG 4</a:t>
            </a:r>
          </a:p>
        </p:txBody>
      </p:sp>
      <p:sp>
        <p:nvSpPr>
          <p:cNvPr id="4" name="Rectangle 3"/>
          <p:cNvSpPr/>
          <p:nvPr/>
        </p:nvSpPr>
        <p:spPr>
          <a:xfrm>
            <a:off x="1371600" y="2560320"/>
            <a:ext cx="2286000" cy="54864"/>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9144000" cy="2286000"/>
          </a:xfrm>
          <a:prstGeom prst="rect">
            <a:avLst/>
          </a:prstGeom>
          <a:noFill/>
        </p:spPr>
        <p:txBody>
          <a:bodyPr wrap="square">
            <a:spAutoFit/>
          </a:bodyPr>
          <a:lstStyle/>
          <a:p>
            <a:pPr>
              <a:spcBef>
                <a:spcPts val="1000"/>
              </a:spcBef>
              <a:defRPr sz="4000" b="1">
                <a:solidFill>
                  <a:srgbClr val="FFFFFF"/>
                </a:solidFill>
                <a:latin typeface="Georgia"/>
              </a:defRPr>
            </a:pPr>
            <a:r>
              <a:t>Thực nghiệm &amp; Đánh giá kết quả</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14</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4: THỰC NGHIỆM</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Cấu hình môi trường thực nghiệm hệ thống</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10728655" cy="4389120"/>
          </a:xfrm>
          <a:prstGeom prst="rect">
            <a:avLst/>
          </a:prstGeom>
          <a:noFill/>
        </p:spPr>
        <p:txBody>
          <a:bodyPr wrap="square" lIns="0" tIns="0">
            <a:spAutoFit/>
          </a:bodyPr>
          <a:lstStyle/>
          <a:p>
            <a:pPr>
              <a:spcAft>
                <a:spcPts val="400"/>
              </a:spcAft>
            </a:pPr>
            <a:r>
              <a:rPr sz="2000" b="1">
                <a:solidFill>
                  <a:srgbClr val="0F172A"/>
                </a:solidFill>
                <a:latin typeface="Segoe UI"/>
              </a:rPr>
              <a:t>Hệ điều hành:</a:t>
            </a:r>
          </a:p>
          <a:p>
            <a:pPr>
              <a:spcAft>
                <a:spcPts val="1600"/>
              </a:spcAft>
            </a:pPr>
            <a:r>
              <a:rPr sz="1600" b="0">
                <a:solidFill>
                  <a:srgbClr val="475569"/>
                </a:solidFill>
                <a:latin typeface="Segoe UI"/>
              </a:rPr>
              <a:t>Microsoft Windows 10/11 - Môi trường kiểm thử phổ biến.</a:t>
            </a:r>
          </a:p>
          <a:p>
            <a:pPr>
              <a:spcAft>
                <a:spcPts val="400"/>
              </a:spcAft>
            </a:pPr>
            <a:r>
              <a:rPr sz="2000" b="1">
                <a:solidFill>
                  <a:srgbClr val="0F172A"/>
                </a:solidFill>
                <a:latin typeface="Segoe UI"/>
              </a:rPr>
              <a:t>Ngôn ngữ lập trình:</a:t>
            </a:r>
          </a:p>
          <a:p>
            <a:pPr>
              <a:spcAft>
                <a:spcPts val="1600"/>
              </a:spcAft>
            </a:pPr>
            <a:r>
              <a:rPr sz="1600" b="0">
                <a:solidFill>
                  <a:srgbClr val="475569"/>
                </a:solidFill>
                <a:latin typeface="Segoe UI"/>
              </a:rPr>
              <a:t>Python 3.9 - Ngôn ngữ hàng đầu cho phân tích dữ liệu và Học máy nhờ thư viện phong phú.</a:t>
            </a:r>
          </a:p>
          <a:p>
            <a:pPr>
              <a:spcAft>
                <a:spcPts val="400"/>
              </a:spcAft>
            </a:pPr>
            <a:r>
              <a:rPr sz="2000" b="1">
                <a:solidFill>
                  <a:srgbClr val="0F172A"/>
                </a:solidFill>
                <a:latin typeface="Segoe UI"/>
              </a:rPr>
              <a:t>Công cụ phát triển (IDE):</a:t>
            </a:r>
          </a:p>
          <a:p>
            <a:pPr>
              <a:spcAft>
                <a:spcPts val="1600"/>
              </a:spcAft>
            </a:pPr>
            <a:r>
              <a:rPr sz="1600" b="0">
                <a:solidFill>
                  <a:srgbClr val="475569"/>
                </a:solidFill>
                <a:latin typeface="Segoe UI"/>
              </a:rPr>
              <a:t>Visual Studio Code - Trình soạn thảo mã nguồn nhẹ, mạnh mẽ, hỗ trợ debug trực quan.</a:t>
            </a:r>
          </a:p>
          <a:p>
            <a:pPr>
              <a:spcAft>
                <a:spcPts val="400"/>
              </a:spcAft>
            </a:pPr>
            <a:r>
              <a:rPr sz="2000" b="1">
                <a:solidFill>
                  <a:srgbClr val="0F172A"/>
                </a:solidFill>
                <a:latin typeface="Segoe UI"/>
              </a:rPr>
              <a:t>Thư viện xử lý dữ liệu Pandas:</a:t>
            </a:r>
          </a:p>
          <a:p>
            <a:pPr>
              <a:spcAft>
                <a:spcPts val="1600"/>
              </a:spcAft>
            </a:pPr>
            <a:r>
              <a:rPr sz="1600" b="0">
                <a:solidFill>
                  <a:srgbClr val="475569"/>
                </a:solidFill>
                <a:latin typeface="Segoe UI"/>
              </a:rPr>
              <a:t>Hỗ trợ đọc tệp dữ liệu CSV (`bugs.csv`), hiển thị và xử lý cấu trúc dữ liệu bảng nhanh chóng.</a:t>
            </a:r>
          </a:p>
          <a:p>
            <a:pPr>
              <a:spcAft>
                <a:spcPts val="400"/>
              </a:spcAft>
            </a:pPr>
            <a:r>
              <a:rPr sz="2000" b="1">
                <a:solidFill>
                  <a:srgbClr val="0F172A"/>
                </a:solidFill>
                <a:latin typeface="Segoe UI"/>
              </a:rPr>
              <a:t>Thư viện Scikit-learn:</a:t>
            </a:r>
          </a:p>
          <a:p>
            <a:pPr>
              <a:spcAft>
                <a:spcPts val="1600"/>
              </a:spcAft>
            </a:pPr>
            <a:r>
              <a:rPr sz="1600" b="0">
                <a:solidFill>
                  <a:srgbClr val="475569"/>
                </a:solidFill>
                <a:latin typeface="Segoe UI"/>
              </a:rPr>
              <a:t>Thư viện Machine Learning cốt lõi của Python, cung cấp thuật toán Decision Tree và các công cụ đo lường hiệu suất mô hình.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15</a:t>
            </a:r>
          </a:p>
        </p:txBody>
      </p:sp>
      <p:sp>
        <p:nvSpPr>
          <p:cNvPr id="6" name="TextBox 5"/>
          <p:cNvSpPr txBox="1"/>
          <p:nvPr/>
        </p:nvSpPr>
        <p:spPr>
          <a:xfrm>
            <a:off x="731520" y="365760"/>
            <a:ext cx="10728655" cy="1005840"/>
          </a:xfrm>
          <a:prstGeom prst="rect">
            <a:avLst/>
          </a:prstGeom>
          <a:noFill/>
        </p:spPr>
        <p:txBody>
          <a:bodyPr wrap="none">
            <a:spAutoFit/>
          </a:bodyPr>
          <a:lstStyle/>
          <a:p>
            <a:pPr>
              <a:defRPr sz="1100" b="1">
                <a:solidFill>
                  <a:srgbClr val="2563EB"/>
                </a:solidFill>
                <a:latin typeface="Segoe UI"/>
              </a:defRPr>
            </a:pPr>
            <a:r>
              <a:t>CHƯƠNG 4: THỰC NGHIỆM</a:t>
            </a:r>
          </a:p>
          <a:p>
            <a:pPr>
              <a:defRPr sz="3000" b="1">
                <a:solidFill>
                  <a:srgbClr val="0F172A"/>
                </a:solidFill>
                <a:latin typeface="Georgia"/>
              </a:defRPr>
            </a:pPr>
            <a:r>
              <a:t>Đánh giá độ chính xác của mô hình AI</a:t>
            </a:r>
          </a:p>
        </p:txBody>
      </p:sp>
      <p:sp>
        <p:nvSpPr>
          <p:cNvPr id="7" name="Rectangle 6"/>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120640" cy="4389120"/>
          </a:xfrm>
          <a:prstGeom prst="rect">
            <a:avLst/>
          </a:prstGeom>
          <a:noFill/>
        </p:spPr>
        <p:txBody>
          <a:bodyPr wrap="square" lIns="0" tIns="0">
            <a:spAutoFit/>
          </a:bodyPr>
          <a:lstStyle/>
          <a:p>
            <a:pPr>
              <a:spcAft>
                <a:spcPts val="400"/>
              </a:spcAft>
            </a:pPr>
            <a:r>
              <a:rPr sz="1900" b="1">
                <a:solidFill>
                  <a:srgbClr val="0F172A"/>
                </a:solidFill>
                <a:latin typeface="Segoe UI"/>
              </a:rPr>
              <a:t>Độ chính xác đạt được:</a:t>
            </a:r>
          </a:p>
          <a:p>
            <a:pPr>
              <a:spcAft>
                <a:spcPts val="1400"/>
              </a:spcAft>
            </a:pPr>
            <a:r>
              <a:rPr sz="1500" b="0">
                <a:solidFill>
                  <a:srgbClr val="475569"/>
                </a:solidFill>
                <a:latin typeface="Segoe UI"/>
              </a:rPr>
              <a:t>Mô hình đạt độ chính xác **75.0%** trên tập dữ liệu kiểm tra độc lập.</a:t>
            </a:r>
          </a:p>
          <a:p>
            <a:pPr>
              <a:spcAft>
                <a:spcPts val="400"/>
              </a:spcAft>
            </a:pPr>
            <a:r>
              <a:rPr sz="1900" b="1">
                <a:solidFill>
                  <a:srgbClr val="0F172A"/>
                </a:solidFill>
                <a:latin typeface="Segoe UI"/>
              </a:rPr>
              <a:t>Đánh giá kết quả:</a:t>
            </a:r>
          </a:p>
          <a:p>
            <a:pPr>
              <a:spcAft>
                <a:spcPts val="1400"/>
              </a:spcAft>
            </a:pPr>
            <a:r>
              <a:rPr sz="1500" b="0">
                <a:solidFill>
                  <a:srgbClr val="475569"/>
                </a:solidFill>
                <a:latin typeface="Segoe UI"/>
              </a:rPr>
              <a:t>Với kích thước dữ liệu thực nghiệm cực kỳ nhỏ (16 mẫu), kết quả 75% cho thấy thuật toán đã tìm được quy luật phân loại cơ bản.</a:t>
            </a:r>
          </a:p>
          <a:p>
            <a:pPr>
              <a:spcAft>
                <a:spcPts val="400"/>
              </a:spcAft>
            </a:pPr>
            <a:r>
              <a:rPr sz="1900" b="1">
                <a:solidFill>
                  <a:srgbClr val="0F172A"/>
                </a:solidFill>
                <a:latin typeface="Segoe UI"/>
              </a:rPr>
              <a:t>Hướng cải thiện:</a:t>
            </a:r>
          </a:p>
          <a:p>
            <a:pPr>
              <a:spcAft>
                <a:spcPts val="1400"/>
              </a:spcAft>
            </a:pPr>
            <a:r>
              <a:rPr sz="1500" b="0">
                <a:solidFill>
                  <a:srgbClr val="475569"/>
                </a:solidFill>
                <a:latin typeface="Segoe UI"/>
              </a:rPr>
              <a:t>Độ chính xác này có thể tăng tiệm cận 95-100% nếu bổ sung thêm các mẫu dữ liệu thực tế và đa dạng hóa thuộc tính đầu vào.</a:t>
            </a:r>
          </a:p>
        </p:txBody>
      </p:sp>
      <p:sp>
        <p:nvSpPr>
          <p:cNvPr id="9" name="Rounded Rectangle 8"/>
          <p:cNvSpPr/>
          <p:nvPr/>
        </p:nvSpPr>
        <p:spPr>
          <a:xfrm>
            <a:off x="6217920" y="1645920"/>
            <a:ext cx="5029200" cy="201168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719072"/>
            <a:ext cx="73152" cy="18653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55648"/>
            <a:ext cx="4709160" cy="1792224"/>
          </a:xfrm>
          <a:prstGeom prst="rect">
            <a:avLst/>
          </a:prstGeom>
          <a:noFill/>
        </p:spPr>
        <p:txBody>
          <a:bodyPr wrap="square" lIns="0" rIns="0" tIns="0" bIns="0">
            <a:spAutoFit/>
          </a:bodyPr>
          <a:lstStyle/>
          <a:p>
            <a:pPr>
              <a:spcAft>
                <a:spcPts val="800"/>
              </a:spcAft>
              <a:defRPr sz="1450" b="1">
                <a:solidFill>
                  <a:srgbClr val="0F172A"/>
                </a:solidFill>
                <a:latin typeface="Segoe UI"/>
              </a:defRPr>
            </a:pPr>
            <a:r>
              <a:t>Chỉ số Đánh Giá (Metric)</a:t>
            </a:r>
          </a:p>
          <a:p>
            <a:pPr>
              <a:spcAft>
                <a:spcPts val="600"/>
              </a:spcAft>
            </a:pPr>
            <a:r>
              <a:rPr sz="1300" b="0">
                <a:solidFill>
                  <a:srgbClr val="0F172A"/>
                </a:solidFill>
                <a:latin typeface="Segoe UI"/>
              </a:rPr>
              <a:t>Công thức tính Accuracy: Số mẫu dự đoán đúng / Tổng số mẫu thử nghiệm</a:t>
            </a:r>
          </a:p>
          <a:p>
            <a:pPr>
              <a:spcAft>
                <a:spcPts val="600"/>
              </a:spcAft>
            </a:pPr>
            <a:r>
              <a:rPr sz="1300" b="0">
                <a:solidFill>
                  <a:srgbClr val="0F172A"/>
                </a:solidFill>
                <a:latin typeface="Segoe UI"/>
              </a:rPr>
              <a:t>Kết quả kiểm tra: 3/4 mẫu dự đoán chính xác (Tương đương 75%)</a:t>
            </a:r>
          </a:p>
          <a:p>
            <a:pPr>
              <a:spcAft>
                <a:spcPts val="600"/>
              </a:spcAft>
            </a:pPr>
            <a:r>
              <a:rPr sz="1300" b="0">
                <a:solidFill>
                  <a:srgbClr val="0F172A"/>
                </a:solidFill>
                <a:latin typeface="Segoe UI"/>
              </a:rPr>
              <a:t>Mô hình không bị quá khớp (overfitting)</a:t>
            </a:r>
          </a:p>
        </p:txBody>
      </p:sp>
      <p:sp>
        <p:nvSpPr>
          <p:cNvPr id="12" name="Rounded Rectangle 11"/>
          <p:cNvSpPr/>
          <p:nvPr/>
        </p:nvSpPr>
        <p:spPr>
          <a:xfrm>
            <a:off x="6217920" y="3840480"/>
            <a:ext cx="5029200" cy="2011680"/>
          </a:xfrm>
          <a:prstGeom prst="roundRect">
            <a:avLst/>
          </a:prstGeom>
          <a:solidFill>
            <a:srgbClr val="FEF2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3913632"/>
            <a:ext cx="73152" cy="1865376"/>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50208"/>
            <a:ext cx="4709160" cy="1792224"/>
          </a:xfrm>
          <a:prstGeom prst="rect">
            <a:avLst/>
          </a:prstGeom>
          <a:noFill/>
        </p:spPr>
        <p:txBody>
          <a:bodyPr wrap="square" lIns="0" rIns="0" tIns="0" bIns="0">
            <a:spAutoFit/>
          </a:bodyPr>
          <a:lstStyle/>
          <a:p>
            <a:pPr>
              <a:spcAft>
                <a:spcPts val="800"/>
              </a:spcAft>
              <a:defRPr sz="1450" b="1">
                <a:solidFill>
                  <a:srgbClr val="0F172A"/>
                </a:solidFill>
                <a:latin typeface="Segoe UI"/>
              </a:defRPr>
            </a:pPr>
            <a:r>
              <a:t>Dự Đoán Lỗi Mới Thực Tế</a:t>
            </a:r>
          </a:p>
          <a:p>
            <a:pPr>
              <a:spcAft>
                <a:spcPts val="600"/>
              </a:spcAft>
            </a:pPr>
            <a:r>
              <a:rPr sz="1300" b="0">
                <a:solidFill>
                  <a:srgbClr val="0F172A"/>
                </a:solidFill>
                <a:latin typeface="Segoe UI"/>
              </a:rPr>
              <a:t>Đầu vào thử nghiệm: Bug_Count = 8, Crash = 1</a:t>
            </a:r>
          </a:p>
          <a:p>
            <a:pPr>
              <a:spcAft>
                <a:spcPts val="600"/>
              </a:spcAft>
            </a:pPr>
            <a:r>
              <a:rPr sz="1300" b="0">
                <a:solidFill>
                  <a:srgbClr val="0F172A"/>
                </a:solidFill>
                <a:latin typeface="Segoe UI"/>
              </a:rPr>
              <a:t>Kết quả dự đoán của AI: Critical (Nghiêm trọng)</a:t>
            </a:r>
          </a:p>
          <a:p>
            <a:pPr>
              <a:spcAft>
                <a:spcPts val="600"/>
              </a:spcAft>
            </a:pPr>
            <a:r>
              <a:rPr sz="1300" b="0">
                <a:solidFill>
                  <a:srgbClr val="0F172A"/>
                </a:solidFill>
                <a:latin typeface="Segoe UI"/>
              </a:rPr>
              <a:t>Nhận xét: Kết quả dự đoán rất hợp lý vì tần suất lỗi cao và có làm sập hệ thống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16</a:t>
            </a:r>
          </a:p>
        </p:txBody>
      </p:sp>
      <p:sp>
        <p:nvSpPr>
          <p:cNvPr id="6" name="TextBox 5"/>
          <p:cNvSpPr txBox="1"/>
          <p:nvPr/>
        </p:nvSpPr>
        <p:spPr>
          <a:xfrm>
            <a:off x="731520" y="365760"/>
            <a:ext cx="10728655" cy="365760"/>
          </a:xfrm>
          <a:prstGeom prst="rect">
            <a:avLst/>
          </a:prstGeom>
          <a:noFill/>
        </p:spPr>
        <p:txBody>
          <a:bodyPr wrap="none">
            <a:spAutoFit/>
          </a:bodyPr>
          <a:lstStyle/>
          <a:p>
            <a:pPr>
              <a:defRPr sz="1100" b="1">
                <a:solidFill>
                  <a:srgbClr val="2563EB"/>
                </a:solidFill>
                <a:latin typeface="Segoe UI"/>
              </a:defRPr>
            </a:pPr>
            <a:r>
              <a:t>CHƯƠNG 4: THỰC NGHIỆM</a:t>
            </a:r>
          </a:p>
        </p:txBody>
      </p:sp>
      <p:sp>
        <p:nvSpPr>
          <p:cNvPr id="7" name="TextBox 6"/>
          <p:cNvSpPr txBox="1"/>
          <p:nvPr/>
        </p:nvSpPr>
        <p:spPr>
          <a:xfrm>
            <a:off x="731520" y="640080"/>
            <a:ext cx="10728655" cy="731520"/>
          </a:xfrm>
          <a:prstGeom prst="rect">
            <a:avLst/>
          </a:prstGeom>
          <a:noFill/>
        </p:spPr>
        <p:txBody>
          <a:bodyPr wrap="none">
            <a:spAutoFit/>
          </a:bodyPr>
          <a:lstStyle/>
          <a:p>
            <a:pPr>
              <a:defRPr sz="3000" b="1">
                <a:solidFill>
                  <a:srgbClr val="0F172A"/>
                </a:solidFill>
                <a:latin typeface="Georgia"/>
              </a:defRPr>
            </a:pPr>
            <a:r>
              <a:t>Đánh giá ưu nhược điểm &amp; Khả năng ứng dụng</a:t>
            </a:r>
          </a:p>
        </p:txBody>
      </p:sp>
      <p:sp>
        <p:nvSpPr>
          <p:cNvPr id="8" name="Rectangle 7"/>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10728655" cy="4389120"/>
          </a:xfrm>
          <a:prstGeom prst="rect">
            <a:avLst/>
          </a:prstGeom>
          <a:noFill/>
        </p:spPr>
        <p:txBody>
          <a:bodyPr wrap="square" lIns="0" tIns="0">
            <a:spAutoFit/>
          </a:bodyPr>
          <a:lstStyle/>
          <a:p>
            <a:pPr>
              <a:spcAft>
                <a:spcPts val="400"/>
              </a:spcAft>
            </a:pPr>
            <a:r>
              <a:rPr sz="2000" b="1">
                <a:solidFill>
                  <a:srgbClr val="0F172A"/>
                </a:solidFill>
                <a:latin typeface="Segoe UI"/>
              </a:rPr>
              <a:t>Ưu điểm nổi bật:</a:t>
            </a:r>
          </a:p>
          <a:p>
            <a:pPr>
              <a:spcAft>
                <a:spcPts val="1600"/>
              </a:spcAft>
            </a:pPr>
            <a:r>
              <a:rPr sz="1600" b="0">
                <a:solidFill>
                  <a:srgbClr val="475569"/>
                </a:solidFill>
                <a:latin typeface="Segoe UI"/>
              </a:rPr>
              <a:t>Mô hình cực kỳ gọn nhẹ, tốc độ huấn luyện và phản hồi mili-giây. Thuật toán Cây quyết định giúp giải thích rõ ràng các quy tắc phân loại.</a:t>
            </a:r>
          </a:p>
          <a:p>
            <a:pPr>
              <a:spcAft>
                <a:spcPts val="400"/>
              </a:spcAft>
            </a:pPr>
            <a:r>
              <a:rPr sz="2000" b="1">
                <a:solidFill>
                  <a:srgbClr val="0F172A"/>
                </a:solidFill>
                <a:latin typeface="Segoe UI"/>
              </a:rPr>
              <a:t>Hạn chế hiện tại:</a:t>
            </a:r>
          </a:p>
          <a:p>
            <a:pPr>
              <a:spcAft>
                <a:spcPts val="1600"/>
              </a:spcAft>
            </a:pPr>
            <a:r>
              <a:rPr sz="1600" b="0">
                <a:solidFill>
                  <a:srgbClr val="475569"/>
                </a:solidFill>
                <a:latin typeface="Segoe UI"/>
              </a:rPr>
              <a:t>Kích thước dữ liệu mẫu thực nghiệm còn nhỏ (16 mẫu), chưa phản ánh hết mọi tình huống lỗi phức tạp trong các dự án phần mềm lớn.</a:t>
            </a:r>
          </a:p>
          <a:p>
            <a:pPr>
              <a:spcAft>
                <a:spcPts val="400"/>
              </a:spcAft>
            </a:pPr>
            <a:r>
              <a:rPr sz="2000" b="1">
                <a:solidFill>
                  <a:srgbClr val="0F172A"/>
                </a:solidFill>
                <a:latin typeface="Segoe UI"/>
              </a:rPr>
              <a:t>Khả năng ứng dụng thực tế:</a:t>
            </a:r>
          </a:p>
          <a:p>
            <a:pPr>
              <a:spcAft>
                <a:spcPts val="1600"/>
              </a:spcAft>
            </a:pPr>
            <a:r>
              <a:rPr sz="1600" b="0">
                <a:solidFill>
                  <a:srgbClr val="475569"/>
                </a:solidFill>
                <a:latin typeface="Segoe UI"/>
              </a:rPr>
              <a:t>Tích hợp trực tiếp vào các hệ thống Jira, GitHub Issues để tự động gợi ý mức độ nghiêm trọng dựa trên thông số lỗi.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144000" cy="548640"/>
          </a:xfrm>
          <a:prstGeom prst="rect">
            <a:avLst/>
          </a:prstGeom>
          <a:noFill/>
        </p:spPr>
        <p:txBody>
          <a:bodyPr wrap="square">
            <a:spAutoFit/>
          </a:bodyPr>
          <a:lstStyle/>
          <a:p>
            <a:pPr>
              <a:defRPr sz="2200" b="1">
                <a:solidFill>
                  <a:srgbClr val="0D9488"/>
                </a:solidFill>
                <a:latin typeface="Segoe UI"/>
              </a:defRPr>
            </a:pPr>
            <a:r>
              <a:t>Q&amp;A</a:t>
            </a:r>
          </a:p>
        </p:txBody>
      </p:sp>
      <p:sp>
        <p:nvSpPr>
          <p:cNvPr id="4" name="Rectangle 3"/>
          <p:cNvSpPr/>
          <p:nvPr/>
        </p:nvSpPr>
        <p:spPr>
          <a:xfrm>
            <a:off x="1371600" y="2560320"/>
            <a:ext cx="2286000" cy="54864"/>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9144000" cy="2286000"/>
          </a:xfrm>
          <a:prstGeom prst="rect">
            <a:avLst/>
          </a:prstGeom>
          <a:noFill/>
        </p:spPr>
        <p:txBody>
          <a:bodyPr wrap="square">
            <a:spAutoFit/>
          </a:bodyPr>
          <a:lstStyle/>
          <a:p>
            <a:pPr>
              <a:spcBef>
                <a:spcPts val="1000"/>
              </a:spcBef>
              <a:defRPr sz="4000" b="1">
                <a:solidFill>
                  <a:srgbClr val="FFFFFF"/>
                </a:solidFill>
                <a:latin typeface="Georgia"/>
              </a:defRPr>
            </a:pPr>
            <a:r>
              <a:t>Kết luận &amp; Giải đáp thắc mắc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621792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309360"/>
            <a:ext cx="7315200" cy="365760"/>
          </a:xfrm>
          <a:prstGeom prst="rect">
            <a:avLst/>
          </a:prstGeom>
          <a:noFill/>
        </p:spPr>
        <p:txBody>
          <a:bodyPr wrap="square">
            <a:spAutoFit/>
          </a:bodyPr>
          <a:lstStyle/>
          <a:p>
            <a:pPr>
              <a:defRPr sz="950">
                <a:solidFill>
                  <a:srgbClr val="475569"/>
                </a:solidFill>
                <a:latin typeface="Segoe UI"/>
              </a:defRPr>
            </a:pPr>
            <a:r>
              <a:t>Tiểu luận Kỹ thuật Phần mềm | Hầu Thị Thanh Huyền - K58.KTP</a:t>
            </a:r>
          </a:p>
        </p:txBody>
      </p:sp>
      <p:sp>
        <p:nvSpPr>
          <p:cNvPr id="5" name="TextBox 4"/>
          <p:cNvSpPr txBox="1"/>
          <p:nvPr/>
        </p:nvSpPr>
        <p:spPr>
          <a:xfrm>
            <a:off x="10515600" y="6309360"/>
            <a:ext cx="914400" cy="365760"/>
          </a:xfrm>
          <a:prstGeom prst="rect">
            <a:avLst/>
          </a:prstGeom>
          <a:noFill/>
        </p:spPr>
        <p:txBody>
          <a:bodyPr wrap="square">
            <a:spAutoFit/>
          </a:bodyPr>
          <a:lstStyle/>
          <a:p>
            <a:pPr algn="r">
              <a:defRPr sz="950">
                <a:solidFill>
                  <a:srgbClr val="475569"/>
                </a:solidFill>
                <a:latin typeface="Segoe UI"/>
              </a:defRPr>
            </a:pPr>
            <a:r>
              <a:t>Trang 18</a:t>
            </a:r>
          </a:p>
        </p:txBody>
      </p:sp>
      <p:sp>
        <p:nvSpPr>
          <p:cNvPr id="6" name="TextBox 5"/>
          <p:cNvSpPr txBox="1"/>
          <p:nvPr/>
        </p:nvSpPr>
        <p:spPr>
          <a:xfrm>
            <a:off x="731520" y="365760"/>
            <a:ext cx="10728655" cy="1005840"/>
          </a:xfrm>
          <a:prstGeom prst="rect">
            <a:avLst/>
          </a:prstGeom>
          <a:noFill/>
        </p:spPr>
        <p:txBody>
          <a:bodyPr wrap="none">
            <a:spAutoFit/>
          </a:bodyPr>
          <a:lstStyle/>
          <a:p>
            <a:pPr>
              <a:defRPr sz="1100" b="1">
                <a:solidFill>
                  <a:srgbClr val="2563EB"/>
                </a:solidFill>
                <a:latin typeface="Segoe UI"/>
              </a:defRPr>
            </a:pPr>
            <a:r>
              <a:t>KẾT LUẬN</a:t>
            </a:r>
          </a:p>
          <a:p>
            <a:pPr>
              <a:defRPr sz="3000" b="1">
                <a:solidFill>
                  <a:srgbClr val="0F172A"/>
                </a:solidFill>
                <a:latin typeface="Georgia"/>
              </a:defRPr>
            </a:pPr>
            <a:r>
              <a:t>Tổng kết đồ án &amp; Lời cảm ơn</a:t>
            </a:r>
          </a:p>
        </p:txBody>
      </p:sp>
      <p:sp>
        <p:nvSpPr>
          <p:cNvPr id="7" name="Rectangle 6"/>
          <p:cNvSpPr/>
          <p:nvPr/>
        </p:nvSpPr>
        <p:spPr>
          <a:xfrm>
            <a:off x="731520" y="1417320"/>
            <a:ext cx="10728655" cy="2286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5120640" cy="4389120"/>
          </a:xfrm>
          <a:prstGeom prst="rect">
            <a:avLst/>
          </a:prstGeom>
          <a:noFill/>
        </p:spPr>
        <p:txBody>
          <a:bodyPr wrap="square" lIns="0" tIns="0">
            <a:spAutoFit/>
          </a:bodyPr>
          <a:lstStyle/>
          <a:p>
            <a:pPr>
              <a:spcAft>
                <a:spcPts val="400"/>
              </a:spcAft>
            </a:pPr>
            <a:r>
              <a:rPr sz="1900" b="1">
                <a:solidFill>
                  <a:srgbClr val="0F172A"/>
                </a:solidFill>
                <a:latin typeface="Segoe UI"/>
              </a:rPr>
              <a:t>Đã hoàn thành:</a:t>
            </a:r>
          </a:p>
          <a:p>
            <a:pPr>
              <a:spcAft>
                <a:spcPts val="1400"/>
              </a:spcAft>
            </a:pPr>
            <a:r>
              <a:rPr sz="1500" b="0">
                <a:solidFill>
                  <a:srgbClr val="475569"/>
                </a:solidFill>
                <a:latin typeface="Segoe UI"/>
              </a:rPr>
              <a:t>Tìm hiểu cơ sở lý thuyết nền tảng về AI/ML trong QA, các kỹ thuật kiểm thử thông minh.</a:t>
            </a:r>
          </a:p>
          <a:p>
            <a:pPr>
              <a:spcAft>
                <a:spcPts val="400"/>
              </a:spcAft>
            </a:pPr>
            <a:r>
              <a:rPr sz="1900" b="1">
                <a:solidFill>
                  <a:srgbClr val="0F172A"/>
                </a:solidFill>
                <a:latin typeface="Segoe UI"/>
              </a:rPr>
              <a:t>Mô phỏng thành công:</a:t>
            </a:r>
          </a:p>
          <a:p>
            <a:pPr>
              <a:spcAft>
                <a:spcPts val="1400"/>
              </a:spcAft>
            </a:pPr>
            <a:r>
              <a:rPr sz="1500" b="0">
                <a:solidFill>
                  <a:srgbClr val="475569"/>
                </a:solidFill>
                <a:latin typeface="Segoe UI"/>
              </a:rPr>
              <a:t>Xây dựng mô hình cây quyết định dự đoán mức độ nghiêm trọng của lỗi phần mềm đạt độ chính xác 75%.</a:t>
            </a:r>
          </a:p>
          <a:p>
            <a:pPr>
              <a:spcAft>
                <a:spcPts val="400"/>
              </a:spcAft>
            </a:pPr>
            <a:r>
              <a:rPr sz="1900" b="1">
                <a:solidFill>
                  <a:srgbClr val="0F172A"/>
                </a:solidFill>
                <a:latin typeface="Segoe UI"/>
              </a:rPr>
              <a:t>Hướng mở rộng:</a:t>
            </a:r>
          </a:p>
          <a:p>
            <a:pPr>
              <a:spcAft>
                <a:spcPts val="1400"/>
              </a:spcAft>
            </a:pPr>
            <a:r>
              <a:rPr sz="1500" b="0">
                <a:solidFill>
                  <a:srgbClr val="475569"/>
                </a:solidFill>
                <a:latin typeface="Segoe UI"/>
              </a:rPr>
              <a:t>Bổ sung tập dữ liệu thực tế lớn từ các dự án, xây dựng giao diện tương tác trực tiếp (Web Tool) để người dùng sử dụng thuận tiện.</a:t>
            </a:r>
          </a:p>
        </p:txBody>
      </p:sp>
      <p:sp>
        <p:nvSpPr>
          <p:cNvPr id="9" name="Rounded Rectangle 8"/>
          <p:cNvSpPr/>
          <p:nvPr/>
        </p:nvSpPr>
        <p:spPr>
          <a:xfrm>
            <a:off x="6217920" y="1645920"/>
            <a:ext cx="5029200" cy="4206240"/>
          </a:xfrm>
          <a:prstGeom prst="roundRect">
            <a:avLst/>
          </a:prstGeom>
          <a:solidFill>
            <a:srgbClr val="F0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719072"/>
            <a:ext cx="73152" cy="4059936"/>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55648"/>
            <a:ext cx="4709160" cy="3986784"/>
          </a:xfrm>
          <a:prstGeom prst="rect">
            <a:avLst/>
          </a:prstGeom>
          <a:noFill/>
        </p:spPr>
        <p:txBody>
          <a:bodyPr wrap="square" lIns="0" rIns="0" tIns="0" bIns="0">
            <a:spAutoFit/>
          </a:bodyPr>
          <a:lstStyle/>
          <a:p>
            <a:pPr>
              <a:spcAft>
                <a:spcPts val="800"/>
              </a:spcAft>
              <a:defRPr sz="1450" b="1">
                <a:solidFill>
                  <a:srgbClr val="0F172A"/>
                </a:solidFill>
                <a:latin typeface="Segoe UI"/>
              </a:defRPr>
            </a:pPr>
            <a:r>
              <a:t>LỜI CẢM ƠN CHÂN THÀNH</a:t>
            </a:r>
          </a:p>
          <a:p>
            <a:pPr>
              <a:spcAft>
                <a:spcPts val="600"/>
              </a:spcAft>
            </a:pPr>
            <a:r>
              <a:rPr sz="1300" b="0">
                <a:solidFill>
                  <a:srgbClr val="0F172A"/>
                </a:solidFill>
                <a:latin typeface="Segoe UI"/>
              </a:rPr>
              <a:t>Em xin chân thành cảm ơn giảng viên hướng dẫn TS. Nguyễn Tuấn Linh đã tận tình chỉ bảo, định hướng và giúp đỡ em trong suốt quá trình thực hiện đồ án.</a:t>
            </a:r>
          </a:p>
          <a:p>
            <a:pPr>
              <a:spcAft>
                <a:spcPts val="600"/>
              </a:spcAft>
            </a:pPr>
            <a:r>
              <a:rPr sz="1300" b="0">
                <a:solidFill>
                  <a:srgbClr val="0F172A"/>
                </a:solidFill>
                <a:latin typeface="Segoe UI"/>
              </a:rPr>
              <a:t>Cảm ơn các thầy cô trong Khoa Điện Tử, Bộ môn Công nghệ thông tin - Trường Đại học Kỹ thuật Công nghiệp Thái Nguyên đã truyền đạt kiến thức nền tảng quý báu.</a:t>
            </a:r>
          </a:p>
          <a:p>
            <a:pPr>
              <a:spcAft>
                <a:spcPts val="600"/>
              </a:spcAft>
            </a:pPr>
            <a:r>
              <a:rPr sz="1300" b="0">
                <a:solidFill>
                  <a:srgbClr val="0F172A"/>
                </a:solidFill>
                <a:latin typeface="Segoe UI"/>
              </a:rPr>
              <a:t>Do kiến thức bản thân và thời gian có hạn, báo cáo khó tránh khỏi thiếu sót. Em rất mong nhận được những ý kiến đóng góp quý báu từ thầy cô Hội đồng đánh giá.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